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handoutMasterIdLst>
    <p:handoutMasterId r:id="rId39"/>
  </p:handoutMasterIdLst>
  <p:sldIdLst>
    <p:sldId id="256" r:id="rId5"/>
    <p:sldId id="302" r:id="rId6"/>
    <p:sldId id="303" r:id="rId7"/>
    <p:sldId id="276" r:id="rId8"/>
    <p:sldId id="289" r:id="rId9"/>
    <p:sldId id="277" r:id="rId10"/>
    <p:sldId id="304" r:id="rId11"/>
    <p:sldId id="309" r:id="rId12"/>
    <p:sldId id="306" r:id="rId13"/>
    <p:sldId id="310" r:id="rId14"/>
    <p:sldId id="307" r:id="rId15"/>
    <p:sldId id="308" r:id="rId16"/>
    <p:sldId id="311" r:id="rId17"/>
    <p:sldId id="312" r:id="rId18"/>
    <p:sldId id="313" r:id="rId19"/>
    <p:sldId id="314" r:id="rId20"/>
    <p:sldId id="315" r:id="rId21"/>
    <p:sldId id="316" r:id="rId22"/>
    <p:sldId id="317" r:id="rId23"/>
    <p:sldId id="305"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F26"/>
    <a:srgbClr val="F4FDFE"/>
    <a:srgbClr val="E3F9FD"/>
    <a:srgbClr val="11AEC7"/>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93" autoAdjust="0"/>
    <p:restoredTop sz="94652" autoAdjust="0"/>
  </p:normalViewPr>
  <p:slideViewPr>
    <p:cSldViewPr snapToGrid="0" showGuides="1">
      <p:cViewPr varScale="1">
        <p:scale>
          <a:sx n="55" d="100"/>
          <a:sy n="55" d="100"/>
        </p:scale>
        <p:origin x="48" y="643"/>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8/19/2026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8/19/2026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33</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8/19/2026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2099445"/>
            <a:ext cx="9144000" cy="2492990"/>
          </a:xfrm>
        </p:spPr>
        <p:txBody>
          <a:bodyPr lIns="0" tIns="0" rIns="0" bIns="0" anchor="t">
            <a:spAutoFit/>
          </a:bodyPr>
          <a:lstStyle/>
          <a:p>
            <a:r>
              <a:rPr lang="en-US" b="1" dirty="0">
                <a:solidFill>
                  <a:schemeClr val="bg1"/>
                </a:solidFill>
              </a:rPr>
              <a:t>IT TICKETS ANALYSIS</a:t>
            </a:r>
            <a:br>
              <a:rPr lang="en-US" dirty="0">
                <a:solidFill>
                  <a:schemeClr val="bg1"/>
                </a:solidFill>
              </a:rPr>
            </a:br>
            <a:r>
              <a:rPr lang="en-US" sz="4000" dirty="0">
                <a:solidFill>
                  <a:schemeClr val="accent4">
                    <a:lumMod val="75000"/>
                  </a:schemeClr>
                </a:solidFill>
              </a:rPr>
              <a:t>Analyzing Ticket Operations, Agent Performance &amp; Investment Opportunities</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5E5D145-0C4A-EC29-FDB1-3AEFAE399754}"/>
              </a:ext>
            </a:extLst>
          </p:cNvPr>
          <p:cNvSpPr txBox="1"/>
          <p:nvPr/>
        </p:nvSpPr>
        <p:spPr>
          <a:xfrm>
            <a:off x="3838074" y="5149516"/>
            <a:ext cx="5498431" cy="1077218"/>
          </a:xfrm>
          <a:prstGeom prst="rect">
            <a:avLst/>
          </a:prstGeom>
          <a:noFill/>
        </p:spPr>
        <p:txBody>
          <a:bodyPr wrap="square" rtlCol="0">
            <a:spAutoFit/>
          </a:bodyPr>
          <a:lstStyle/>
          <a:p>
            <a:pPr algn="ctr"/>
            <a:r>
              <a:rPr lang="en-IN" sz="3200" b="1" dirty="0">
                <a:solidFill>
                  <a:schemeClr val="bg1"/>
                </a:solidFill>
              </a:rPr>
              <a:t>Excel Data Analytics Project</a:t>
            </a:r>
          </a:p>
          <a:p>
            <a:pPr algn="ctr"/>
            <a:r>
              <a:rPr lang="en-IN" sz="3200" b="1" dirty="0">
                <a:solidFill>
                  <a:schemeClr val="bg1"/>
                </a:solidFill>
              </a:rPr>
              <a:t>Mehwish</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3AB5-335D-1A43-02E1-6081D3C58501}"/>
              </a:ext>
            </a:extLst>
          </p:cNvPr>
          <p:cNvSpPr>
            <a:spLocks noGrp="1"/>
          </p:cNvSpPr>
          <p:nvPr>
            <p:ph type="title"/>
          </p:nvPr>
        </p:nvSpPr>
        <p:spPr/>
        <p:txBody>
          <a:bodyPr>
            <a:normAutofit/>
          </a:bodyPr>
          <a:lstStyle/>
          <a:p>
            <a:r>
              <a:rPr lang="en-IN" sz="3600" b="1"/>
              <a:t>The Business Challenge— Problem Statement</a:t>
            </a:r>
            <a:endParaRPr lang="en-IN" sz="3600" b="1" dirty="0"/>
          </a:p>
        </p:txBody>
      </p:sp>
      <p:sp>
        <p:nvSpPr>
          <p:cNvPr id="3" name="Content Placeholder 2">
            <a:extLst>
              <a:ext uri="{FF2B5EF4-FFF2-40B4-BE49-F238E27FC236}">
                <a16:creationId xmlns:a16="http://schemas.microsoft.com/office/drawing/2014/main" id="{1A3BBDEB-9114-EAA5-E009-F15404A6B02D}"/>
              </a:ext>
            </a:extLst>
          </p:cNvPr>
          <p:cNvSpPr>
            <a:spLocks noGrp="1"/>
          </p:cNvSpPr>
          <p:nvPr>
            <p:ph idx="1"/>
          </p:nvPr>
        </p:nvSpPr>
        <p:spPr>
          <a:xfrm>
            <a:off x="838200" y="1459865"/>
            <a:ext cx="10515600" cy="4351338"/>
          </a:xfrm>
        </p:spPr>
        <p:txBody>
          <a:bodyPr>
            <a:normAutofit/>
          </a:bodyPr>
          <a:lstStyle/>
          <a:p>
            <a:pPr marL="0" indent="0" algn="ctr">
              <a:lnSpc>
                <a:spcPct val="150000"/>
              </a:lnSpc>
              <a:buNone/>
            </a:pPr>
            <a:r>
              <a:rPr lang="en-IN" sz="2400" b="1" dirty="0"/>
              <a:t>You are tasked with </a:t>
            </a:r>
            <a:r>
              <a:rPr lang="en-IN" sz="2400" b="1" dirty="0" err="1"/>
              <a:t>analyzing</a:t>
            </a:r>
            <a:r>
              <a:rPr lang="en-IN" sz="2400" b="1" dirty="0"/>
              <a:t> the IT support ticket management system to understand the performance of IT agents, the efficiency of ticket resolution, and the satisfaction levels of employees. The objective 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p>
        </p:txBody>
      </p:sp>
      <p:sp>
        <p:nvSpPr>
          <p:cNvPr id="9" name="Rectangle 8">
            <a:extLst>
              <a:ext uri="{FF2B5EF4-FFF2-40B4-BE49-F238E27FC236}">
                <a16:creationId xmlns:a16="http://schemas.microsoft.com/office/drawing/2014/main" id="{390F7874-E6D5-FD6A-97C1-AF701527C400}"/>
              </a:ext>
            </a:extLst>
          </p:cNvPr>
          <p:cNvSpPr/>
          <p:nvPr/>
        </p:nvSpPr>
        <p:spPr>
          <a:xfrm>
            <a:off x="0" y="6400799"/>
            <a:ext cx="12192000" cy="801667"/>
          </a:xfrm>
          <a:prstGeom prst="rect">
            <a:avLst/>
          </a:prstGeom>
          <a:solidFill>
            <a:schemeClr val="accent3">
              <a:lumMod val="5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0732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7FC0-6196-5FC0-9E59-145E5C610427}"/>
              </a:ext>
            </a:extLst>
          </p:cNvPr>
          <p:cNvSpPr>
            <a:spLocks noGrp="1"/>
          </p:cNvSpPr>
          <p:nvPr>
            <p:ph type="title"/>
          </p:nvPr>
        </p:nvSpPr>
        <p:spPr>
          <a:xfrm>
            <a:off x="838199" y="243205"/>
            <a:ext cx="10515600" cy="3185795"/>
          </a:xfrm>
        </p:spPr>
        <p:txBody>
          <a:bodyPr>
            <a:normAutofit/>
          </a:bodyPr>
          <a:lstStyle/>
          <a:p>
            <a:pPr algn="ctr"/>
            <a:r>
              <a:rPr lang="en-IN" b="1" dirty="0">
                <a:solidFill>
                  <a:schemeClr val="accent3">
                    <a:lumMod val="50000"/>
                  </a:schemeClr>
                </a:solidFill>
              </a:rPr>
              <a:t>How can the organization manage rapidly growing IT support demand while maintaining fast resolution times and high employee satisfaction?</a:t>
            </a:r>
          </a:p>
        </p:txBody>
      </p:sp>
      <p:sp>
        <p:nvSpPr>
          <p:cNvPr id="4" name="TextBox 3">
            <a:extLst>
              <a:ext uri="{FF2B5EF4-FFF2-40B4-BE49-F238E27FC236}">
                <a16:creationId xmlns:a16="http://schemas.microsoft.com/office/drawing/2014/main" id="{8DD080B5-61F8-DDEA-EB5A-EF272F019FBC}"/>
              </a:ext>
            </a:extLst>
          </p:cNvPr>
          <p:cNvSpPr txBox="1"/>
          <p:nvPr/>
        </p:nvSpPr>
        <p:spPr>
          <a:xfrm>
            <a:off x="838200" y="5538768"/>
            <a:ext cx="10515600" cy="954107"/>
          </a:xfrm>
          <a:prstGeom prst="rect">
            <a:avLst/>
          </a:prstGeom>
          <a:noFill/>
        </p:spPr>
        <p:txBody>
          <a:bodyPr wrap="square" rtlCol="0">
            <a:spAutoFit/>
          </a:bodyPr>
          <a:lstStyle/>
          <a:p>
            <a:pPr algn="ctr"/>
            <a:r>
              <a:rPr lang="en-IN" sz="2800" b="1" i="1" dirty="0"/>
              <a:t>Goal: Identify operational bottlenecks and determine where process, technology and workforce improvements should be prioritized.</a:t>
            </a:r>
          </a:p>
        </p:txBody>
      </p:sp>
      <p:pic>
        <p:nvPicPr>
          <p:cNvPr id="8" name="Picture 7" descr="Businessman raising shrugging">
            <a:extLst>
              <a:ext uri="{FF2B5EF4-FFF2-40B4-BE49-F238E27FC236}">
                <a16:creationId xmlns:a16="http://schemas.microsoft.com/office/drawing/2014/main" id="{FF1A902B-9277-AE9A-50C8-FB852D964E69}"/>
              </a:ext>
            </a:extLst>
          </p:cNvPr>
          <p:cNvPicPr>
            <a:picLocks noChangeAspect="1"/>
          </p:cNvPicPr>
          <p:nvPr/>
        </p:nvPicPr>
        <p:blipFill>
          <a:blip r:embed="rId2">
            <a:extLst>
              <a:ext uri="{28A0092B-C50C-407E-A947-70E740481C1C}">
                <a14:useLocalDpi xmlns:a14="http://schemas.microsoft.com/office/drawing/2010/main" val="0"/>
              </a:ext>
            </a:extLst>
          </a:blip>
          <a:srcRect b="60523"/>
          <a:stretch>
            <a:fillRect/>
          </a:stretch>
        </p:blipFill>
        <p:spPr>
          <a:xfrm>
            <a:off x="4094714" y="3141017"/>
            <a:ext cx="4002571" cy="2397751"/>
          </a:xfrm>
          <a:prstGeom prst="rect">
            <a:avLst/>
          </a:prstGeom>
        </p:spPr>
      </p:pic>
    </p:spTree>
    <p:extLst>
      <p:ext uri="{BB962C8B-B14F-4D97-AF65-F5344CB8AC3E}">
        <p14:creationId xmlns:p14="http://schemas.microsoft.com/office/powerpoint/2010/main" val="3840714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38801"/>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IT Support Analysis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07120" y="2444560"/>
            <a:ext cx="2378719" cy="240464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What This Analysis Aims to Uncover?</a:t>
            </a:r>
            <a:endParaRPr lang="en-US" sz="2000" b="1" dirty="0">
              <a:latin typeface="+mj-lt"/>
            </a:endParaRP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1600" b="1" dirty="0"/>
              <a:t>Evaluate Service Performance</a:t>
            </a:r>
            <a:endParaRPr lang="en-US" sz="1600" b="1" dirty="0"/>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t>Understand Ticket Demand</a:t>
            </a:r>
            <a:endParaRPr lang="en-US" sz="1600" b="1" dirty="0">
              <a:solidFill>
                <a:srgbClr val="585858"/>
              </a:solidFill>
            </a:endParaRP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Rectangle: Rounded Corners 1">
            <a:extLst>
              <a:ext uri="{FF2B5EF4-FFF2-40B4-BE49-F238E27FC236}">
                <a16:creationId xmlns:a16="http://schemas.microsoft.com/office/drawing/2014/main" id="{952EB80F-8524-484C-744F-42A3534F6E5F}"/>
              </a:ext>
              <a:ext uri="{C183D7F6-B498-43B3-948B-1728B52AA6E4}">
                <adec:decorative xmlns:adec="http://schemas.microsoft.com/office/drawing/2017/decorative" val="1"/>
              </a:ext>
            </a:extLst>
          </p:cNvPr>
          <p:cNvSpPr/>
          <p:nvPr/>
        </p:nvSpPr>
        <p:spPr>
          <a:xfrm>
            <a:off x="7772400" y="3467303"/>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1600" b="1" dirty="0"/>
              <a:t>Evaluate Agent Performance</a:t>
            </a:r>
            <a:endParaRPr lang="en-US" sz="1600" b="1" dirty="0"/>
          </a:p>
        </p:txBody>
      </p:sp>
      <p:sp>
        <p:nvSpPr>
          <p:cNvPr id="3" name="Oval 2">
            <a:extLst>
              <a:ext uri="{FF2B5EF4-FFF2-40B4-BE49-F238E27FC236}">
                <a16:creationId xmlns:a16="http://schemas.microsoft.com/office/drawing/2014/main" id="{1219DC67-23D0-BDBA-26A9-8F83AC148125}"/>
              </a:ext>
              <a:ext uri="{C183D7F6-B498-43B3-948B-1728B52AA6E4}">
                <adec:decorative xmlns:adec="http://schemas.microsoft.com/office/drawing/2017/decorative" val="1"/>
              </a:ext>
            </a:extLst>
          </p:cNvPr>
          <p:cNvSpPr/>
          <p:nvPr/>
        </p:nvSpPr>
        <p:spPr>
          <a:xfrm>
            <a:off x="7661275" y="3367901"/>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962138" y="3588770"/>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Rectangle: Rounded Corners 4">
            <a:extLst>
              <a:ext uri="{FF2B5EF4-FFF2-40B4-BE49-F238E27FC236}">
                <a16:creationId xmlns:a16="http://schemas.microsoft.com/office/drawing/2014/main" id="{FA867CA1-039D-C6A9-03E6-CA3EEBD3D910}"/>
              </a:ext>
              <a:ext uri="{C183D7F6-B498-43B3-948B-1728B52AA6E4}">
                <adec:decorative xmlns:adec="http://schemas.microsoft.com/office/drawing/2017/decorative" val="1"/>
              </a:ext>
            </a:extLst>
          </p:cNvPr>
          <p:cNvSpPr/>
          <p:nvPr/>
        </p:nvSpPr>
        <p:spPr>
          <a:xfrm>
            <a:off x="893695" y="3467303"/>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t>Guide Investment Decisions</a:t>
            </a:r>
            <a:endParaRPr lang="en-US" sz="1600" b="1" dirty="0"/>
          </a:p>
        </p:txBody>
      </p:sp>
      <p:sp>
        <p:nvSpPr>
          <p:cNvPr id="6" name="Oval 5">
            <a:extLst>
              <a:ext uri="{FF2B5EF4-FFF2-40B4-BE49-F238E27FC236}">
                <a16:creationId xmlns:a16="http://schemas.microsoft.com/office/drawing/2014/main" id="{E8A09AFD-25EF-19D7-552C-F15B73420FF6}"/>
              </a:ext>
              <a:ext uri="{C183D7F6-B498-43B3-948B-1728B52AA6E4}">
                <adec:decorative xmlns:adec="http://schemas.microsoft.com/office/drawing/2017/decorative" val="1"/>
              </a:ext>
            </a:extLst>
          </p:cNvPr>
          <p:cNvSpPr/>
          <p:nvPr/>
        </p:nvSpPr>
        <p:spPr>
          <a:xfrm>
            <a:off x="3725795" y="3367901"/>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4008964" y="3646880"/>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921EED46-13B6-A149-4DED-76A69E3384EE}"/>
              </a:ext>
            </a:extLst>
          </p:cNvPr>
          <p:cNvSpPr txBox="1"/>
          <p:nvPr/>
        </p:nvSpPr>
        <p:spPr>
          <a:xfrm>
            <a:off x="1699846" y="6025662"/>
            <a:ext cx="10011508" cy="461665"/>
          </a:xfrm>
          <a:prstGeom prst="rect">
            <a:avLst/>
          </a:prstGeom>
          <a:noFill/>
        </p:spPr>
        <p:txBody>
          <a:bodyPr wrap="square" rtlCol="0">
            <a:spAutoFit/>
          </a:bodyPr>
          <a:lstStyle/>
          <a:p>
            <a:pPr algn="ctr"/>
            <a:r>
              <a:rPr lang="en-IN" sz="2400" b="1" dirty="0"/>
              <a:t>Goal: Transform raw IT ticket data into actionable management decisions.</a:t>
            </a:r>
          </a:p>
        </p:txBody>
      </p:sp>
    </p:spTree>
    <p:extLst>
      <p:ext uri="{BB962C8B-B14F-4D97-AF65-F5344CB8AC3E}">
        <p14:creationId xmlns:p14="http://schemas.microsoft.com/office/powerpoint/2010/main" val="329971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1DBFE-296A-CC9A-448F-EFDBF5CCC1F6}"/>
              </a:ext>
            </a:extLst>
          </p:cNvPr>
          <p:cNvSpPr>
            <a:spLocks noGrp="1"/>
          </p:cNvSpPr>
          <p:nvPr>
            <p:ph type="title"/>
          </p:nvPr>
        </p:nvSpPr>
        <p:spPr>
          <a:xfrm>
            <a:off x="1161152" y="49185"/>
            <a:ext cx="9781168" cy="1205457"/>
          </a:xfrm>
        </p:spPr>
        <p:txBody>
          <a:bodyPr vert="horz" lIns="91440" tIns="45720" rIns="91440" bIns="45720" rtlCol="0" anchor="b">
            <a:normAutofit/>
          </a:bodyPr>
          <a:lstStyle/>
          <a:p>
            <a:pPr algn="ctr"/>
            <a:r>
              <a:rPr lang="en-IN" sz="4000" b="1" dirty="0"/>
              <a:t>Understanding the IT Support Data</a:t>
            </a:r>
            <a:endParaRPr lang="en-US" sz="3700" b="1" kern="1200" dirty="0">
              <a:solidFill>
                <a:schemeClr val="tx1"/>
              </a:solidFill>
              <a:latin typeface="+mj-lt"/>
              <a:ea typeface="+mj-ea"/>
              <a:cs typeface="+mj-cs"/>
            </a:endParaRPr>
          </a:p>
        </p:txBody>
      </p:sp>
      <p:sp>
        <p:nvSpPr>
          <p:cNvPr id="9" name="TextBox 8">
            <a:extLst>
              <a:ext uri="{FF2B5EF4-FFF2-40B4-BE49-F238E27FC236}">
                <a16:creationId xmlns:a16="http://schemas.microsoft.com/office/drawing/2014/main" id="{BB917DB6-2643-6F83-4C28-99D9CA76A5CB}"/>
              </a:ext>
            </a:extLst>
          </p:cNvPr>
          <p:cNvSpPr txBox="1"/>
          <p:nvPr/>
        </p:nvSpPr>
        <p:spPr>
          <a:xfrm>
            <a:off x="1020417" y="1303827"/>
            <a:ext cx="5075583" cy="4871685"/>
          </a:xfrm>
          <a:prstGeom prst="rect">
            <a:avLst/>
          </a:prstGeom>
        </p:spPr>
        <p:txBody>
          <a:bodyPr vert="horz" lIns="91440" tIns="45720" rIns="91440" bIns="45720" rtlCol="0" anchor="t">
            <a:normAutofit/>
          </a:bodyPr>
          <a:lstStyle/>
          <a:p>
            <a:pPr>
              <a:lnSpc>
                <a:spcPct val="120000"/>
              </a:lnSpc>
              <a:spcAft>
                <a:spcPts val="600"/>
              </a:spcAft>
            </a:pPr>
            <a:r>
              <a:rPr lang="en-US" sz="2000" b="1" dirty="0"/>
              <a:t>Data Overview:</a:t>
            </a:r>
          </a:p>
          <a:p>
            <a:pPr marL="457200" indent="-457200">
              <a:lnSpc>
                <a:spcPct val="120000"/>
              </a:lnSpc>
              <a:spcAft>
                <a:spcPts val="600"/>
              </a:spcAft>
              <a:buFont typeface="+mj-lt"/>
              <a:buAutoNum type="arabicPeriod"/>
            </a:pPr>
            <a:r>
              <a:rPr lang="en-US" b="1" dirty="0"/>
              <a:t> Tables: </a:t>
            </a:r>
            <a:r>
              <a:rPr lang="en-US" dirty="0"/>
              <a:t>Tickets • IT Agents</a:t>
            </a:r>
            <a:r>
              <a:rPr lang="en-US" b="1" dirty="0"/>
              <a:t> </a:t>
            </a:r>
          </a:p>
          <a:p>
            <a:pPr marL="457200" indent="-457200">
              <a:lnSpc>
                <a:spcPct val="120000"/>
              </a:lnSpc>
              <a:spcAft>
                <a:spcPts val="600"/>
              </a:spcAft>
              <a:buFont typeface="+mj-lt"/>
              <a:buAutoNum type="arabicPeriod"/>
            </a:pPr>
            <a:r>
              <a:rPr lang="en-US" b="1" dirty="0"/>
              <a:t>IT Agents Table:</a:t>
            </a:r>
          </a:p>
          <a:p>
            <a:pPr marL="914400" lvl="1" indent="-457200">
              <a:lnSpc>
                <a:spcPct val="120000"/>
              </a:lnSpc>
              <a:spcAft>
                <a:spcPts val="600"/>
              </a:spcAft>
              <a:buFont typeface="Arial" panose="020B0604020202020204" pitchFamily="34" charset="0"/>
              <a:buChar char="•"/>
            </a:pPr>
            <a:r>
              <a:rPr lang="en-US" b="1" dirty="0"/>
              <a:t>Rows: </a:t>
            </a:r>
            <a:r>
              <a:rPr lang="en-US" dirty="0"/>
              <a:t>51 (including the header row)</a:t>
            </a:r>
          </a:p>
          <a:p>
            <a:pPr marL="914400" lvl="1" indent="-457200">
              <a:lnSpc>
                <a:spcPct val="120000"/>
              </a:lnSpc>
              <a:spcAft>
                <a:spcPts val="600"/>
              </a:spcAft>
              <a:buFont typeface="Arial" panose="020B0604020202020204" pitchFamily="34" charset="0"/>
              <a:buChar char="•"/>
            </a:pPr>
            <a:r>
              <a:rPr lang="en-US" b="1" dirty="0"/>
              <a:t>Data records</a:t>
            </a:r>
            <a:r>
              <a:rPr lang="en-US" dirty="0"/>
              <a:t>: 50</a:t>
            </a:r>
          </a:p>
          <a:p>
            <a:pPr marL="914400" lvl="1" indent="-457200">
              <a:lnSpc>
                <a:spcPct val="120000"/>
              </a:lnSpc>
              <a:spcAft>
                <a:spcPts val="600"/>
              </a:spcAft>
              <a:buFont typeface="Arial" panose="020B0604020202020204" pitchFamily="34" charset="0"/>
              <a:buChar char="•"/>
            </a:pPr>
            <a:r>
              <a:rPr lang="en-US" b="1" dirty="0"/>
              <a:t>Columns</a:t>
            </a:r>
            <a:r>
              <a:rPr lang="en-US" dirty="0"/>
              <a:t>: 6</a:t>
            </a:r>
          </a:p>
          <a:p>
            <a:pPr marL="457200" indent="-457200">
              <a:lnSpc>
                <a:spcPct val="120000"/>
              </a:lnSpc>
              <a:spcAft>
                <a:spcPts val="600"/>
              </a:spcAft>
              <a:buFont typeface="+mj-lt"/>
              <a:buAutoNum type="arabicPeriod"/>
            </a:pPr>
            <a:r>
              <a:rPr lang="en-IN" dirty="0">
                <a:solidFill>
                  <a:srgbClr val="000000"/>
                </a:solidFill>
                <a:latin typeface="Arial" panose="020B0604020202020204" pitchFamily="34" charset="0"/>
              </a:rPr>
              <a:t>Tickets Table:</a:t>
            </a:r>
          </a:p>
          <a:p>
            <a:pPr marL="914400" lvl="1" indent="-457200">
              <a:lnSpc>
                <a:spcPct val="120000"/>
              </a:lnSpc>
              <a:spcAft>
                <a:spcPts val="600"/>
              </a:spcAft>
              <a:buFont typeface="Arial" panose="020B0604020202020204" pitchFamily="34" charset="0"/>
              <a:buChar char="•"/>
            </a:pPr>
            <a:r>
              <a:rPr lang="en-US" b="1" dirty="0"/>
              <a:t>Rows: </a:t>
            </a:r>
            <a:r>
              <a:rPr lang="en-US" dirty="0"/>
              <a:t>97,499 (including the header row)</a:t>
            </a:r>
          </a:p>
          <a:p>
            <a:pPr marL="914400" lvl="1" indent="-457200">
              <a:lnSpc>
                <a:spcPct val="120000"/>
              </a:lnSpc>
              <a:spcAft>
                <a:spcPts val="600"/>
              </a:spcAft>
              <a:buFont typeface="Arial" panose="020B0604020202020204" pitchFamily="34" charset="0"/>
              <a:buChar char="•"/>
            </a:pPr>
            <a:r>
              <a:rPr lang="en-US" b="1" dirty="0"/>
              <a:t>Data records:</a:t>
            </a:r>
            <a:r>
              <a:rPr lang="en-US" dirty="0"/>
              <a:t> 97,498</a:t>
            </a:r>
          </a:p>
          <a:p>
            <a:pPr marL="914400" lvl="1" indent="-457200">
              <a:lnSpc>
                <a:spcPct val="120000"/>
              </a:lnSpc>
              <a:spcAft>
                <a:spcPts val="600"/>
              </a:spcAft>
              <a:buFont typeface="Arial" panose="020B0604020202020204" pitchFamily="34" charset="0"/>
              <a:buChar char="•"/>
            </a:pPr>
            <a:r>
              <a:rPr lang="en-US" b="1" dirty="0"/>
              <a:t>Columns: </a:t>
            </a:r>
            <a:r>
              <a:rPr lang="en-US" dirty="0"/>
              <a:t>11</a:t>
            </a:r>
          </a:p>
        </p:txBody>
      </p:sp>
      <p:sp>
        <p:nvSpPr>
          <p:cNvPr id="23" name="Rectangle 22">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B290377-292F-CED3-294E-512FEF210F48}"/>
              </a:ext>
            </a:extLst>
          </p:cNvPr>
          <p:cNvSpPr/>
          <p:nvPr/>
        </p:nvSpPr>
        <p:spPr>
          <a:xfrm>
            <a:off x="0" y="5997010"/>
            <a:ext cx="12192000" cy="1205457"/>
          </a:xfrm>
          <a:prstGeom prst="rect">
            <a:avLst/>
          </a:prstGeom>
          <a:solidFill>
            <a:schemeClr val="accent3">
              <a:lumMod val="5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948B02D-F5CE-488A-6C90-E9AF48F15E29}"/>
              </a:ext>
            </a:extLst>
          </p:cNvPr>
          <p:cNvSpPr txBox="1"/>
          <p:nvPr/>
        </p:nvSpPr>
        <p:spPr>
          <a:xfrm>
            <a:off x="6559826" y="1308941"/>
            <a:ext cx="4956313" cy="3413242"/>
          </a:xfrm>
          <a:prstGeom prst="rect">
            <a:avLst/>
          </a:prstGeom>
          <a:noFill/>
        </p:spPr>
        <p:txBody>
          <a:bodyPr wrap="square" rtlCol="0">
            <a:spAutoFit/>
          </a:bodyPr>
          <a:lstStyle/>
          <a:p>
            <a:pPr>
              <a:lnSpc>
                <a:spcPct val="120000"/>
              </a:lnSpc>
              <a:spcAft>
                <a:spcPts val="600"/>
              </a:spcAft>
            </a:pPr>
            <a:r>
              <a:rPr lang="en-US" sz="2000" b="1" dirty="0"/>
              <a:t>Data Dimensions</a:t>
            </a:r>
          </a:p>
          <a:p>
            <a:pPr marL="571500" indent="-457200">
              <a:lnSpc>
                <a:spcPct val="120000"/>
              </a:lnSpc>
              <a:spcAft>
                <a:spcPts val="600"/>
              </a:spcAft>
              <a:buFont typeface="+mj-lt"/>
              <a:buAutoNum type="arabicPeriod"/>
            </a:pPr>
            <a:r>
              <a:rPr lang="en-US" b="1" dirty="0"/>
              <a:t>Ticket Information: </a:t>
            </a:r>
            <a:r>
              <a:rPr lang="en-US" dirty="0"/>
              <a:t>Ticket ID • Date • Issue Type • Request Category</a:t>
            </a:r>
          </a:p>
          <a:p>
            <a:pPr marL="571500" indent="-457200">
              <a:lnSpc>
                <a:spcPct val="120000"/>
              </a:lnSpc>
              <a:spcAft>
                <a:spcPts val="600"/>
              </a:spcAft>
              <a:buFont typeface="+mj-lt"/>
              <a:buAutoNum type="arabicPeriod"/>
            </a:pPr>
            <a:r>
              <a:rPr lang="en-US" b="1" dirty="0"/>
              <a:t>Service Metrics: </a:t>
            </a:r>
            <a:r>
              <a:rPr lang="en-US" dirty="0"/>
              <a:t>Resolution Time • Satisfaction Rate</a:t>
            </a:r>
          </a:p>
          <a:p>
            <a:pPr marL="571500" indent="-457200">
              <a:lnSpc>
                <a:spcPct val="120000"/>
              </a:lnSpc>
              <a:spcAft>
                <a:spcPts val="600"/>
              </a:spcAft>
              <a:buFont typeface="+mj-lt"/>
              <a:buAutoNum type="arabicPeriod"/>
            </a:pPr>
            <a:r>
              <a:rPr lang="en-US" b="1" dirty="0"/>
              <a:t>Ticket Criticality: </a:t>
            </a:r>
            <a:r>
              <a:rPr lang="en-US" dirty="0"/>
              <a:t>Severity • Priority</a:t>
            </a:r>
          </a:p>
          <a:p>
            <a:pPr marL="571500" indent="-457200">
              <a:lnSpc>
                <a:spcPct val="120000"/>
              </a:lnSpc>
              <a:spcAft>
                <a:spcPts val="600"/>
              </a:spcAft>
              <a:buFont typeface="+mj-lt"/>
              <a:buAutoNum type="arabicPeriod"/>
            </a:pPr>
            <a:r>
              <a:rPr lang="en-US" b="1" dirty="0"/>
              <a:t>Agent Information: </a:t>
            </a:r>
            <a:r>
              <a:rPr lang="en-US" dirty="0"/>
              <a:t>Agent ID • Agent Name • Age • Email</a:t>
            </a:r>
          </a:p>
          <a:p>
            <a:endParaRPr lang="en-IN" sz="1600" dirty="0"/>
          </a:p>
        </p:txBody>
      </p:sp>
      <p:cxnSp>
        <p:nvCxnSpPr>
          <p:cNvPr id="7" name="Straight Connector 6">
            <a:extLst>
              <a:ext uri="{FF2B5EF4-FFF2-40B4-BE49-F238E27FC236}">
                <a16:creationId xmlns:a16="http://schemas.microsoft.com/office/drawing/2014/main" id="{5CE8E9B2-DF9F-27F3-EEAF-46D73CC7FEA1}"/>
              </a:ext>
            </a:extLst>
          </p:cNvPr>
          <p:cNvCxnSpPr>
            <a:cxnSpLocks/>
          </p:cNvCxnSpPr>
          <p:nvPr/>
        </p:nvCxnSpPr>
        <p:spPr>
          <a:xfrm>
            <a:off x="6051736" y="1387749"/>
            <a:ext cx="0" cy="4169321"/>
          </a:xfrm>
          <a:prstGeom prst="line">
            <a:avLst/>
          </a:prstGeom>
          <a:ln w="76200">
            <a:solidFill>
              <a:schemeClr val="accent3">
                <a:lumMod val="50000"/>
              </a:schemeClr>
            </a:solidFill>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1A5540A6-BABD-AC93-E1C2-B681FAAF0D98}"/>
              </a:ext>
            </a:extLst>
          </p:cNvPr>
          <p:cNvSpPr txBox="1"/>
          <p:nvPr/>
        </p:nvSpPr>
        <p:spPr>
          <a:xfrm>
            <a:off x="1452331" y="6031124"/>
            <a:ext cx="9564093" cy="707886"/>
          </a:xfrm>
          <a:prstGeom prst="rect">
            <a:avLst/>
          </a:prstGeom>
          <a:noFill/>
        </p:spPr>
        <p:txBody>
          <a:bodyPr wrap="square" rtlCol="0">
            <a:spAutoFit/>
          </a:bodyPr>
          <a:lstStyle/>
          <a:p>
            <a:pPr algn="ctr"/>
            <a:r>
              <a:rPr lang="en-IN" sz="2000" i="1" dirty="0">
                <a:solidFill>
                  <a:schemeClr val="bg1"/>
                </a:solidFill>
              </a:rPr>
              <a:t>The dataset allows performance to be evaluated across </a:t>
            </a:r>
            <a:r>
              <a:rPr lang="en-IN" sz="2000" b="1" i="1" dirty="0">
                <a:solidFill>
                  <a:schemeClr val="bg1"/>
                </a:solidFill>
              </a:rPr>
              <a:t>demand, efficiency, service quality, ticket complexity and agent performance.</a:t>
            </a:r>
            <a:endParaRPr lang="en-IN" sz="2000" i="1" dirty="0">
              <a:solidFill>
                <a:schemeClr val="bg1"/>
              </a:solidFill>
            </a:endParaRPr>
          </a:p>
        </p:txBody>
      </p:sp>
    </p:spTree>
    <p:extLst>
      <p:ext uri="{BB962C8B-B14F-4D97-AF65-F5344CB8AC3E}">
        <p14:creationId xmlns:p14="http://schemas.microsoft.com/office/powerpoint/2010/main" val="360113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sp>
        <p:nvSpPr>
          <p:cNvPr id="11" name="Title 1">
            <a:extLst>
              <a:ext uri="{FF2B5EF4-FFF2-40B4-BE49-F238E27FC236}">
                <a16:creationId xmlns:a16="http://schemas.microsoft.com/office/drawing/2014/main" id="{4E3F5479-058B-4FA8-92E9-18CAB8CDC5C5}"/>
              </a:ext>
            </a:extLst>
          </p:cNvPr>
          <p:cNvSpPr txBox="1">
            <a:spLocks/>
          </p:cNvSpPr>
          <p:nvPr/>
        </p:nvSpPr>
        <p:spPr>
          <a:xfrm>
            <a:off x="483910" y="291515"/>
            <a:ext cx="11734800" cy="166199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b="1" dirty="0"/>
              <a:t>From Raw Ticket Records to Decision-Ready Insights</a:t>
            </a:r>
            <a:br>
              <a:rPr lang="en-US" sz="4000" b="1" dirty="0">
                <a:solidFill>
                  <a:schemeClr val="tx1">
                    <a:lumMod val="75000"/>
                    <a:lumOff val="25000"/>
                  </a:schemeClr>
                </a:solidFill>
              </a:rPr>
            </a:br>
            <a:endParaRPr lang="en-US" sz="4000" b="1" dirty="0">
              <a:solidFill>
                <a:schemeClr val="tx1">
                  <a:lumMod val="75000"/>
                  <a:lumOff val="25000"/>
                </a:schemeClr>
              </a:solidFill>
            </a:endParaRPr>
          </a:p>
        </p:txBody>
      </p:sp>
      <p:sp>
        <p:nvSpPr>
          <p:cNvPr id="2" name="Trapezoid 1">
            <a:extLst>
              <a:ext uri="{FF2B5EF4-FFF2-40B4-BE49-F238E27FC236}">
                <a16:creationId xmlns:a16="http://schemas.microsoft.com/office/drawing/2014/main" id="{5B804E9F-B6B5-41F9-9B63-9AF435FDC2B7}"/>
              </a:ext>
              <a:ext uri="{C183D7F6-B498-43B3-948B-1728B52AA6E4}">
                <adec:decorative xmlns:adec="http://schemas.microsoft.com/office/drawing/2017/decorative" val="1"/>
              </a:ext>
            </a:extLst>
          </p:cNvPr>
          <p:cNvSpPr/>
          <p:nvPr/>
        </p:nvSpPr>
        <p:spPr>
          <a:xfrm rot="5400000">
            <a:off x="-157653" y="2975115"/>
            <a:ext cx="4766976" cy="208440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rapezoid 42">
            <a:extLst>
              <a:ext uri="{FF2B5EF4-FFF2-40B4-BE49-F238E27FC236}">
                <a16:creationId xmlns:a16="http://schemas.microsoft.com/office/drawing/2014/main" id="{0092C447-C8E1-4B12-B012-E6D21CBB1FBE}"/>
              </a:ext>
              <a:ext uri="{C183D7F6-B498-43B3-948B-1728B52AA6E4}">
                <adec:decorative xmlns:adec="http://schemas.microsoft.com/office/drawing/2017/decorative" val="1"/>
              </a:ext>
            </a:extLst>
          </p:cNvPr>
          <p:cNvSpPr/>
          <p:nvPr/>
        </p:nvSpPr>
        <p:spPr>
          <a:xfrm rot="5400000">
            <a:off x="2566692" y="2779554"/>
            <a:ext cx="4336142"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rapezoid 43">
            <a:extLst>
              <a:ext uri="{FF2B5EF4-FFF2-40B4-BE49-F238E27FC236}">
                <a16:creationId xmlns:a16="http://schemas.microsoft.com/office/drawing/2014/main" id="{7E139379-1914-4446-8D6D-984A47041A54}"/>
              </a:ext>
              <a:ext uri="{C183D7F6-B498-43B3-948B-1728B52AA6E4}">
                <adec:decorative xmlns:adec="http://schemas.microsoft.com/office/drawing/2017/decorative" val="1"/>
              </a:ext>
            </a:extLst>
          </p:cNvPr>
          <p:cNvSpPr/>
          <p:nvPr/>
        </p:nvSpPr>
        <p:spPr>
          <a:xfrm rot="5400000">
            <a:off x="5037939" y="2946716"/>
            <a:ext cx="4669524"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rapezoid 44">
            <a:extLst>
              <a:ext uri="{FF2B5EF4-FFF2-40B4-BE49-F238E27FC236}">
                <a16:creationId xmlns:a16="http://schemas.microsoft.com/office/drawing/2014/main" id="{F79B51BB-1B30-4ED8-B26D-21EE8BC675B2}"/>
              </a:ext>
              <a:ext uri="{C183D7F6-B498-43B3-948B-1728B52AA6E4}">
                <adec:decorative xmlns:adec="http://schemas.microsoft.com/office/drawing/2017/decorative" val="1"/>
              </a:ext>
            </a:extLst>
          </p:cNvPr>
          <p:cNvSpPr/>
          <p:nvPr/>
        </p:nvSpPr>
        <p:spPr>
          <a:xfrm rot="5400000">
            <a:off x="7778237" y="2823669"/>
            <a:ext cx="4336142"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F19BFA5-D0CA-4CF0-8499-504D956B6563}"/>
              </a:ext>
            </a:extLst>
          </p:cNvPr>
          <p:cNvSpPr/>
          <p:nvPr/>
        </p:nvSpPr>
        <p:spPr>
          <a:xfrm>
            <a:off x="1412843" y="2649733"/>
            <a:ext cx="1561821" cy="830997"/>
          </a:xfrm>
          <a:prstGeom prst="rect">
            <a:avLst/>
          </a:prstGeom>
        </p:spPr>
        <p:txBody>
          <a:bodyPr wrap="square" lIns="0" tIns="0" rIns="0" bIns="0">
            <a:spAutoFit/>
          </a:bodyPr>
          <a:lstStyle/>
          <a:p>
            <a:pPr algn="ctr"/>
            <a:r>
              <a:rPr lang="en-IN" b="1" dirty="0">
                <a:solidFill>
                  <a:schemeClr val="bg1"/>
                </a:solidFill>
              </a:rPr>
              <a:t>STEP 1</a:t>
            </a:r>
          </a:p>
          <a:p>
            <a:pPr algn="ctr"/>
            <a:r>
              <a:rPr lang="en-IN" b="1" dirty="0">
                <a:solidFill>
                  <a:schemeClr val="bg1"/>
                </a:solidFill>
              </a:rPr>
              <a:t>Data Validation</a:t>
            </a:r>
          </a:p>
          <a:p>
            <a:pPr algn="ctr"/>
            <a:endParaRPr lang="en-US" b="1" dirty="0">
              <a:solidFill>
                <a:schemeClr val="bg1"/>
              </a:solidFill>
            </a:endParaRPr>
          </a:p>
        </p:txBody>
      </p:sp>
      <p:sp>
        <p:nvSpPr>
          <p:cNvPr id="47" name="Rectangle 46">
            <a:extLst>
              <a:ext uri="{FF2B5EF4-FFF2-40B4-BE49-F238E27FC236}">
                <a16:creationId xmlns:a16="http://schemas.microsoft.com/office/drawing/2014/main" id="{1751D31D-3535-411D-8BAC-95CCC90AB185}"/>
              </a:ext>
            </a:extLst>
          </p:cNvPr>
          <p:cNvSpPr/>
          <p:nvPr/>
        </p:nvSpPr>
        <p:spPr>
          <a:xfrm>
            <a:off x="3914746" y="2749770"/>
            <a:ext cx="1640033" cy="830997"/>
          </a:xfrm>
          <a:prstGeom prst="rect">
            <a:avLst/>
          </a:prstGeom>
        </p:spPr>
        <p:txBody>
          <a:bodyPr wrap="square" lIns="0" tIns="0" rIns="0" bIns="0">
            <a:spAutoFit/>
          </a:bodyPr>
          <a:lstStyle/>
          <a:p>
            <a:pPr algn="ctr"/>
            <a:r>
              <a:rPr lang="en-IN" b="1" dirty="0">
                <a:solidFill>
                  <a:schemeClr val="bg1"/>
                </a:solidFill>
              </a:rPr>
              <a:t>STEP 2</a:t>
            </a:r>
          </a:p>
          <a:p>
            <a:pPr algn="ctr"/>
            <a:r>
              <a:rPr lang="en-IN" b="1" dirty="0">
                <a:solidFill>
                  <a:schemeClr val="bg1"/>
                </a:solidFill>
              </a:rPr>
              <a:t>Data Enrichment</a:t>
            </a:r>
          </a:p>
          <a:p>
            <a:pPr algn="ctr"/>
            <a:endParaRPr lang="en-US" b="1" dirty="0">
              <a:solidFill>
                <a:schemeClr val="bg1"/>
              </a:solidFill>
            </a:endParaRPr>
          </a:p>
        </p:txBody>
      </p:sp>
      <p:sp>
        <p:nvSpPr>
          <p:cNvPr id="48" name="Rectangle 47">
            <a:extLst>
              <a:ext uri="{FF2B5EF4-FFF2-40B4-BE49-F238E27FC236}">
                <a16:creationId xmlns:a16="http://schemas.microsoft.com/office/drawing/2014/main" id="{FA4D735A-8F75-4E2A-8F1A-CC303B0718BA}"/>
              </a:ext>
            </a:extLst>
          </p:cNvPr>
          <p:cNvSpPr/>
          <p:nvPr/>
        </p:nvSpPr>
        <p:spPr>
          <a:xfrm>
            <a:off x="6592869" y="2749770"/>
            <a:ext cx="1559663" cy="553998"/>
          </a:xfrm>
          <a:prstGeom prst="rect">
            <a:avLst/>
          </a:prstGeom>
        </p:spPr>
        <p:txBody>
          <a:bodyPr wrap="square" lIns="0" tIns="0" rIns="0" bIns="0">
            <a:spAutoFit/>
          </a:bodyPr>
          <a:lstStyle/>
          <a:p>
            <a:pPr algn="ctr"/>
            <a:r>
              <a:rPr lang="en-US" b="1" dirty="0">
                <a:solidFill>
                  <a:schemeClr val="bg1"/>
                </a:solidFill>
              </a:rPr>
              <a:t>STEP 3</a:t>
            </a:r>
          </a:p>
          <a:p>
            <a:pPr algn="ctr"/>
            <a:r>
              <a:rPr lang="en-US" b="1" dirty="0">
                <a:solidFill>
                  <a:schemeClr val="bg1"/>
                </a:solidFill>
              </a:rPr>
              <a:t>Excel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9052582" y="2749770"/>
            <a:ext cx="1776883" cy="830997"/>
          </a:xfrm>
          <a:prstGeom prst="rect">
            <a:avLst/>
          </a:prstGeom>
        </p:spPr>
        <p:txBody>
          <a:bodyPr wrap="square" lIns="0" tIns="0" rIns="0" bIns="0">
            <a:spAutoFit/>
          </a:bodyPr>
          <a:lstStyle/>
          <a:p>
            <a:pPr algn="ctr"/>
            <a:r>
              <a:rPr lang="en-IN" b="1" dirty="0">
                <a:solidFill>
                  <a:schemeClr val="bg1"/>
                </a:solidFill>
              </a:rPr>
              <a:t>STEP 4</a:t>
            </a:r>
          </a:p>
          <a:p>
            <a:pPr algn="ctr"/>
            <a:r>
              <a:rPr lang="en-IN" b="1" dirty="0">
                <a:solidFill>
                  <a:schemeClr val="bg1"/>
                </a:solidFill>
              </a:rPr>
              <a:t>Interactive Dashboard</a:t>
            </a:r>
            <a:endParaRPr lang="en-IN" dirty="0">
              <a:solidFill>
                <a:schemeClr val="bg1"/>
              </a:solidFill>
            </a:endParaRPr>
          </a:p>
        </p:txBody>
      </p:sp>
      <p:sp>
        <p:nvSpPr>
          <p:cNvPr id="51" name="Rectangle 50">
            <a:extLst>
              <a:ext uri="{FF2B5EF4-FFF2-40B4-BE49-F238E27FC236}">
                <a16:creationId xmlns:a16="http://schemas.microsoft.com/office/drawing/2014/main" id="{8AA18108-5B8B-4147-84A7-D30A16BEC4EA}"/>
              </a:ext>
            </a:extLst>
          </p:cNvPr>
          <p:cNvSpPr/>
          <p:nvPr/>
        </p:nvSpPr>
        <p:spPr>
          <a:xfrm>
            <a:off x="1256676" y="3190596"/>
            <a:ext cx="1874154" cy="2705869"/>
          </a:xfrm>
          <a:prstGeom prst="rect">
            <a:avLst/>
          </a:prstGeom>
        </p:spPr>
        <p:txBody>
          <a:bodyPr wrap="square" lIns="0" tIns="0" rIns="0" bIns="0" anchor="t">
            <a:spAutoFit/>
          </a:bodyPr>
          <a:lstStyle/>
          <a:p>
            <a:pPr marL="285750" lvl="0" indent="-285750">
              <a:buFont typeface="Arial" panose="020B0604020202020204" pitchFamily="34" charset="0"/>
              <a:buChar char="•"/>
            </a:pPr>
            <a:r>
              <a:rPr lang="en-IN" sz="1600" dirty="0">
                <a:solidFill>
                  <a:schemeClr val="bg1"/>
                </a:solidFill>
              </a:rPr>
              <a:t>Checked data types </a:t>
            </a:r>
          </a:p>
          <a:p>
            <a:pPr marL="285750" lvl="0" indent="-285750">
              <a:buFont typeface="Arial" panose="020B0604020202020204" pitchFamily="34" charset="0"/>
              <a:buChar char="•"/>
            </a:pPr>
            <a:r>
              <a:rPr lang="en-IN" sz="1600" dirty="0">
                <a:solidFill>
                  <a:schemeClr val="bg1"/>
                </a:solidFill>
              </a:rPr>
              <a:t>Reviewed missing values </a:t>
            </a:r>
          </a:p>
          <a:p>
            <a:pPr marL="285750" lvl="0" indent="-285750">
              <a:buFont typeface="Arial" panose="020B0604020202020204" pitchFamily="34" charset="0"/>
              <a:buChar char="•"/>
            </a:pPr>
            <a:r>
              <a:rPr lang="en-IN" sz="1600" dirty="0">
                <a:solidFill>
                  <a:schemeClr val="bg1"/>
                </a:solidFill>
              </a:rPr>
              <a:t>Checked duplicates </a:t>
            </a:r>
          </a:p>
          <a:p>
            <a:pPr marL="285750" lvl="0" indent="-285750">
              <a:buFont typeface="Arial" panose="020B0604020202020204" pitchFamily="34" charset="0"/>
              <a:buChar char="•"/>
            </a:pPr>
            <a:r>
              <a:rPr lang="en-IN" sz="1600" dirty="0">
                <a:solidFill>
                  <a:schemeClr val="bg1"/>
                </a:solidFill>
              </a:rPr>
              <a:t>Validated numeric fields </a:t>
            </a:r>
          </a:p>
          <a:p>
            <a:pPr marL="285750" lvl="0" indent="-285750">
              <a:buFont typeface="Arial" panose="020B0604020202020204" pitchFamily="34" charset="0"/>
              <a:buChar char="•"/>
            </a:pPr>
            <a:r>
              <a:rPr lang="en-IN" sz="1600" dirty="0">
                <a:solidFill>
                  <a:schemeClr val="bg1"/>
                </a:solidFill>
              </a:rPr>
              <a:t>Verified category consistency</a:t>
            </a:r>
          </a:p>
          <a:p>
            <a:pPr marL="285750" indent="-285750" algn="ctr">
              <a:lnSpc>
                <a:spcPts val="1900"/>
              </a:lnSpc>
              <a:buFont typeface="Arial" panose="020B0604020202020204" pitchFamily="34" charset="0"/>
              <a:buChar char="•"/>
            </a:pPr>
            <a:endParaRPr lang="en-US" sz="1600" dirty="0">
              <a:solidFill>
                <a:schemeClr val="bg1"/>
              </a:solidFill>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916893" y="3403557"/>
            <a:ext cx="1752042" cy="1967205"/>
          </a:xfrm>
          <a:prstGeom prst="rect">
            <a:avLst/>
          </a:prstGeom>
        </p:spPr>
        <p:txBody>
          <a:bodyPr wrap="square" lIns="0" tIns="0" rIns="0" bIns="0" anchor="t">
            <a:spAutoFit/>
          </a:bodyPr>
          <a:lstStyle/>
          <a:p>
            <a:r>
              <a:rPr lang="en-IN" sz="1600" dirty="0">
                <a:solidFill>
                  <a:schemeClr val="bg1"/>
                </a:solidFill>
              </a:rPr>
              <a:t>Created/derived fields such as:</a:t>
            </a:r>
          </a:p>
          <a:p>
            <a:pPr marL="342900" lvl="0" indent="-342900">
              <a:buFont typeface="Arial" panose="020B0604020202020204" pitchFamily="34" charset="0"/>
              <a:buChar char="•"/>
            </a:pPr>
            <a:r>
              <a:rPr lang="en-IN" sz="1600" dirty="0">
                <a:solidFill>
                  <a:schemeClr val="bg1"/>
                </a:solidFill>
              </a:rPr>
              <a:t>Agent Name </a:t>
            </a:r>
          </a:p>
          <a:p>
            <a:pPr marL="342900" lvl="0" indent="-342900">
              <a:buFont typeface="Arial" panose="020B0604020202020204" pitchFamily="34" charset="0"/>
              <a:buChar char="•"/>
            </a:pPr>
            <a:r>
              <a:rPr lang="en-IN" sz="1600" dirty="0">
                <a:solidFill>
                  <a:schemeClr val="bg1"/>
                </a:solidFill>
              </a:rPr>
              <a:t>Year </a:t>
            </a:r>
          </a:p>
          <a:p>
            <a:pPr marL="342900" lvl="0" indent="-342900">
              <a:buFont typeface="Arial" panose="020B0604020202020204" pitchFamily="34" charset="0"/>
              <a:buChar char="•"/>
            </a:pPr>
            <a:r>
              <a:rPr lang="en-IN" sz="1600" dirty="0">
                <a:solidFill>
                  <a:schemeClr val="bg1"/>
                </a:solidFill>
              </a:rPr>
              <a:t>Month </a:t>
            </a:r>
          </a:p>
          <a:p>
            <a:pPr marL="342900" lvl="0" indent="-342900">
              <a:buFont typeface="Arial" panose="020B0604020202020204" pitchFamily="34" charset="0"/>
              <a:buChar char="•"/>
            </a:pPr>
            <a:r>
              <a:rPr lang="en-IN" sz="1600" dirty="0">
                <a:solidFill>
                  <a:schemeClr val="bg1"/>
                </a:solidFill>
              </a:rPr>
              <a:t>Age Group </a:t>
            </a:r>
          </a:p>
          <a:p>
            <a:pPr marL="342900" lvl="0" indent="-342900">
              <a:buFont typeface="Arial" panose="020B0604020202020204" pitchFamily="34" charset="0"/>
              <a:buChar char="•"/>
            </a:pPr>
            <a:r>
              <a:rPr lang="en-IN" sz="1600" dirty="0">
                <a:solidFill>
                  <a:schemeClr val="bg1"/>
                </a:solidFill>
              </a:rPr>
              <a:t>Email Domain</a:t>
            </a:r>
          </a:p>
          <a:p>
            <a:pPr algn="ctr">
              <a:lnSpc>
                <a:spcPts val="1900"/>
              </a:lnSpc>
            </a:pPr>
            <a:endParaRPr lang="en-US" sz="1600" dirty="0">
              <a:solidFill>
                <a:schemeClr val="bg1"/>
              </a:solidFill>
              <a:cs typeface="Segoe UI" panose="020B0502040204020203" pitchFamily="34" charset="0"/>
            </a:endParaRPr>
          </a:p>
        </p:txBody>
      </p:sp>
      <p:sp>
        <p:nvSpPr>
          <p:cNvPr id="53" name="Rectangle 52">
            <a:extLst>
              <a:ext uri="{FF2B5EF4-FFF2-40B4-BE49-F238E27FC236}">
                <a16:creationId xmlns:a16="http://schemas.microsoft.com/office/drawing/2014/main" id="{E1535E1C-6EBC-45D8-BCE1-D5B947A61FB6}"/>
              </a:ext>
            </a:extLst>
          </p:cNvPr>
          <p:cNvSpPr/>
          <p:nvPr/>
        </p:nvSpPr>
        <p:spPr>
          <a:xfrm>
            <a:off x="6421439" y="3313707"/>
            <a:ext cx="1902522" cy="2459648"/>
          </a:xfrm>
          <a:prstGeom prst="rect">
            <a:avLst/>
          </a:prstGeom>
        </p:spPr>
        <p:txBody>
          <a:bodyPr wrap="square" lIns="0" tIns="0" rIns="0" bIns="0" anchor="t">
            <a:spAutoFit/>
          </a:bodyPr>
          <a:lstStyle/>
          <a:p>
            <a:r>
              <a:rPr lang="en-IN" sz="1600" dirty="0">
                <a:solidFill>
                  <a:schemeClr val="bg1"/>
                </a:solidFill>
              </a:rPr>
              <a:t>Used:</a:t>
            </a:r>
          </a:p>
          <a:p>
            <a:pPr marL="285750" lvl="0" indent="-285750">
              <a:buFont typeface="Arial" panose="020B0604020202020204" pitchFamily="34" charset="0"/>
              <a:buChar char="•"/>
            </a:pPr>
            <a:r>
              <a:rPr lang="en-IN" sz="1600" dirty="0">
                <a:solidFill>
                  <a:schemeClr val="bg1"/>
                </a:solidFill>
              </a:rPr>
              <a:t>Excel Tables </a:t>
            </a:r>
          </a:p>
          <a:p>
            <a:pPr marL="285750" lvl="0" indent="-285750">
              <a:buFont typeface="Arial" panose="020B0604020202020204" pitchFamily="34" charset="0"/>
              <a:buChar char="•"/>
            </a:pPr>
            <a:r>
              <a:rPr lang="en-IN" sz="1600" dirty="0">
                <a:solidFill>
                  <a:schemeClr val="bg1"/>
                </a:solidFill>
              </a:rPr>
              <a:t>PivotTables </a:t>
            </a:r>
          </a:p>
          <a:p>
            <a:pPr marL="285750" lvl="0" indent="-285750">
              <a:buFont typeface="Arial" panose="020B0604020202020204" pitchFamily="34" charset="0"/>
              <a:buChar char="•"/>
            </a:pPr>
            <a:r>
              <a:rPr lang="en-IN" sz="1600" dirty="0">
                <a:solidFill>
                  <a:schemeClr val="bg1"/>
                </a:solidFill>
              </a:rPr>
              <a:t>COUNTIF / SUMIF </a:t>
            </a:r>
          </a:p>
          <a:p>
            <a:pPr marL="285750" lvl="0" indent="-285750">
              <a:buFont typeface="Arial" panose="020B0604020202020204" pitchFamily="34" charset="0"/>
              <a:buChar char="•"/>
            </a:pPr>
            <a:r>
              <a:rPr lang="en-IN" sz="1600" dirty="0">
                <a:solidFill>
                  <a:schemeClr val="bg1"/>
                </a:solidFill>
              </a:rPr>
              <a:t>INDEX-MATCH </a:t>
            </a:r>
          </a:p>
          <a:p>
            <a:pPr marL="285750" lvl="0" indent="-285750">
              <a:buFont typeface="Arial" panose="020B0604020202020204" pitchFamily="34" charset="0"/>
              <a:buChar char="•"/>
            </a:pPr>
            <a:r>
              <a:rPr lang="en-IN" sz="1600" dirty="0">
                <a:solidFill>
                  <a:schemeClr val="bg1"/>
                </a:solidFill>
              </a:rPr>
              <a:t>Conditional aggregation </a:t>
            </a:r>
          </a:p>
          <a:p>
            <a:pPr marL="285750" lvl="0" indent="-285750">
              <a:buFont typeface="Arial" panose="020B0604020202020204" pitchFamily="34" charset="0"/>
              <a:buChar char="•"/>
            </a:pPr>
            <a:r>
              <a:rPr lang="en-IN" sz="1600" dirty="0">
                <a:solidFill>
                  <a:schemeClr val="bg1"/>
                </a:solidFill>
              </a:rPr>
              <a:t>Date functions </a:t>
            </a:r>
          </a:p>
          <a:p>
            <a:pPr marL="285750" lvl="0" indent="-285750">
              <a:buFont typeface="Arial" panose="020B0604020202020204" pitchFamily="34" charset="0"/>
              <a:buChar char="•"/>
            </a:pPr>
            <a:r>
              <a:rPr lang="en-IN" sz="1600" dirty="0">
                <a:solidFill>
                  <a:schemeClr val="bg1"/>
                </a:solidFill>
              </a:rPr>
              <a:t>Sorting &amp; filtering</a:t>
            </a:r>
          </a:p>
          <a:p>
            <a:pPr algn="ctr">
              <a:lnSpc>
                <a:spcPts val="1900"/>
              </a:lnSpc>
            </a:pPr>
            <a:endParaRPr lang="en-US" sz="1600" dirty="0">
              <a:solidFill>
                <a:schemeClr val="bg1"/>
              </a:solidFill>
              <a:cs typeface="Segoe UI" panose="020B0502040204020203" pitchFamily="34" charset="0"/>
            </a:endParaRPr>
          </a:p>
        </p:txBody>
      </p:sp>
      <p:sp>
        <p:nvSpPr>
          <p:cNvPr id="54" name="Rectangle 53">
            <a:extLst>
              <a:ext uri="{FF2B5EF4-FFF2-40B4-BE49-F238E27FC236}">
                <a16:creationId xmlns:a16="http://schemas.microsoft.com/office/drawing/2014/main" id="{28FF18A5-7B4E-4493-B38D-E732E033F82F}"/>
              </a:ext>
            </a:extLst>
          </p:cNvPr>
          <p:cNvSpPr/>
          <p:nvPr/>
        </p:nvSpPr>
        <p:spPr>
          <a:xfrm>
            <a:off x="9065002" y="3723241"/>
            <a:ext cx="1752042" cy="1431482"/>
          </a:xfrm>
          <a:prstGeom prst="rect">
            <a:avLst/>
          </a:prstGeom>
        </p:spPr>
        <p:txBody>
          <a:bodyPr wrap="square" lIns="0" tIns="0" rIns="0" bIns="0" anchor="t">
            <a:spAutoFit/>
          </a:bodyPr>
          <a:lstStyle/>
          <a:p>
            <a:pPr algn="ctr">
              <a:lnSpc>
                <a:spcPct val="150000"/>
              </a:lnSpc>
            </a:pPr>
            <a:r>
              <a:rPr lang="en-IN" sz="1600" dirty="0">
                <a:solidFill>
                  <a:schemeClr val="bg1"/>
                </a:solidFill>
              </a:rPr>
              <a:t>Built </a:t>
            </a:r>
            <a:r>
              <a:rPr lang="en-IN" sz="1600" dirty="0" err="1">
                <a:solidFill>
                  <a:schemeClr val="bg1"/>
                </a:solidFill>
              </a:rPr>
              <a:t>PivotCharts</a:t>
            </a:r>
            <a:r>
              <a:rPr lang="en-IN" sz="1600" dirty="0">
                <a:solidFill>
                  <a:schemeClr val="bg1"/>
                </a:solidFill>
              </a:rPr>
              <a:t> + slicers for management exploration.</a:t>
            </a:r>
            <a:endParaRPr lang="en-US" sz="1600" dirty="0">
              <a:solidFill>
                <a:schemeClr val="bg1"/>
              </a:solidFill>
              <a:cs typeface="Segoe UI" panose="020B0502040204020203" pitchFamily="34" charset="0"/>
            </a:endParaRPr>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4547765" y="2234312"/>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7150369" y="2250777"/>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9755083" y="2224849"/>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1525580" y="2453825"/>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7" name="Graphic 6" descr="Clipboard Mixed with solid fill">
            <a:extLst>
              <a:ext uri="{FF2B5EF4-FFF2-40B4-BE49-F238E27FC236}">
                <a16:creationId xmlns:a16="http://schemas.microsoft.com/office/drawing/2014/main" id="{D2033325-5F20-8C34-5962-AA66B2F7A5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61" y="2071857"/>
            <a:ext cx="507881" cy="507881"/>
          </a:xfrm>
          <a:prstGeom prst="rect">
            <a:avLst/>
          </a:prstGeom>
        </p:spPr>
      </p:pic>
    </p:spTree>
    <p:extLst>
      <p:ext uri="{BB962C8B-B14F-4D97-AF65-F5344CB8AC3E}">
        <p14:creationId xmlns:p14="http://schemas.microsoft.com/office/powerpoint/2010/main" val="82256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F020E-48A0-2765-B364-6E0E0FEFEAA6}"/>
              </a:ext>
            </a:extLst>
          </p:cNvPr>
          <p:cNvSpPr>
            <a:spLocks noGrp="1"/>
          </p:cNvSpPr>
          <p:nvPr>
            <p:ph type="title"/>
          </p:nvPr>
        </p:nvSpPr>
        <p:spPr>
          <a:xfrm>
            <a:off x="838200" y="0"/>
            <a:ext cx="10515600" cy="1325563"/>
          </a:xfrm>
        </p:spPr>
        <p:txBody>
          <a:bodyPr>
            <a:normAutofit/>
          </a:bodyPr>
          <a:lstStyle/>
          <a:p>
            <a:pPr algn="ctr"/>
            <a:r>
              <a:rPr lang="en-IN" sz="4000" b="1" dirty="0"/>
              <a:t>KPI Overview</a:t>
            </a:r>
          </a:p>
        </p:txBody>
      </p:sp>
      <p:graphicFrame>
        <p:nvGraphicFramePr>
          <p:cNvPr id="6" name="Content Placeholder 5">
            <a:extLst>
              <a:ext uri="{FF2B5EF4-FFF2-40B4-BE49-F238E27FC236}">
                <a16:creationId xmlns:a16="http://schemas.microsoft.com/office/drawing/2014/main" id="{48D1F656-E6EB-E670-179A-BD13F009EA55}"/>
              </a:ext>
            </a:extLst>
          </p:cNvPr>
          <p:cNvGraphicFramePr>
            <a:graphicFrameLocks noGrp="1"/>
          </p:cNvGraphicFramePr>
          <p:nvPr>
            <p:ph idx="1"/>
            <p:extLst>
              <p:ext uri="{D42A27DB-BD31-4B8C-83A1-F6EECF244321}">
                <p14:modId xmlns:p14="http://schemas.microsoft.com/office/powerpoint/2010/main" val="523595011"/>
              </p:ext>
            </p:extLst>
          </p:nvPr>
        </p:nvGraphicFramePr>
        <p:xfrm>
          <a:off x="1013790" y="1325909"/>
          <a:ext cx="4598506" cy="4694787"/>
        </p:xfrm>
        <a:graphic>
          <a:graphicData uri="http://schemas.openxmlformats.org/drawingml/2006/table">
            <a:tbl>
              <a:tblPr firstRow="1" bandRow="1">
                <a:tableStyleId>{073A0DAA-6AF3-43AB-8588-CEC1D06C72B9}</a:tableStyleId>
              </a:tblPr>
              <a:tblGrid>
                <a:gridCol w="2299253">
                  <a:extLst>
                    <a:ext uri="{9D8B030D-6E8A-4147-A177-3AD203B41FA5}">
                      <a16:colId xmlns:a16="http://schemas.microsoft.com/office/drawing/2014/main" val="2239071662"/>
                    </a:ext>
                  </a:extLst>
                </a:gridCol>
                <a:gridCol w="2299253">
                  <a:extLst>
                    <a:ext uri="{9D8B030D-6E8A-4147-A177-3AD203B41FA5}">
                      <a16:colId xmlns:a16="http://schemas.microsoft.com/office/drawing/2014/main" val="404394579"/>
                    </a:ext>
                  </a:extLst>
                </a:gridCol>
              </a:tblGrid>
              <a:tr h="521643">
                <a:tc>
                  <a:txBody>
                    <a:bodyPr/>
                    <a:lstStyle/>
                    <a:p>
                      <a:pPr>
                        <a:buNone/>
                      </a:pPr>
                      <a:r>
                        <a:rPr lang="en-IN" dirty="0"/>
                        <a:t>KPI</a:t>
                      </a:r>
                    </a:p>
                  </a:txBody>
                  <a:tcPr anchor="ctr"/>
                </a:tc>
                <a:tc>
                  <a:txBody>
                    <a:bodyPr/>
                    <a:lstStyle/>
                    <a:p>
                      <a:pPr algn="r">
                        <a:buNone/>
                      </a:pPr>
                      <a:r>
                        <a:rPr lang="en-IN"/>
                        <a:t>Value</a:t>
                      </a:r>
                    </a:p>
                  </a:txBody>
                  <a:tcPr anchor="ctr"/>
                </a:tc>
                <a:extLst>
                  <a:ext uri="{0D108BD9-81ED-4DB2-BD59-A6C34878D82A}">
                    <a16:rowId xmlns:a16="http://schemas.microsoft.com/office/drawing/2014/main" val="1457684957"/>
                  </a:ext>
                </a:extLst>
              </a:tr>
              <a:tr h="521643">
                <a:tc>
                  <a:txBody>
                    <a:bodyPr/>
                    <a:lstStyle/>
                    <a:p>
                      <a:pPr>
                        <a:buNone/>
                      </a:pPr>
                      <a:r>
                        <a:rPr lang="en-IN"/>
                        <a:t>Total Tickets</a:t>
                      </a:r>
                    </a:p>
                  </a:txBody>
                  <a:tcPr anchor="ctr"/>
                </a:tc>
                <a:tc>
                  <a:txBody>
                    <a:bodyPr/>
                    <a:lstStyle/>
                    <a:p>
                      <a:pPr algn="r">
                        <a:buNone/>
                      </a:pPr>
                      <a:r>
                        <a:rPr lang="en-IN" b="1"/>
                        <a:t>97,498</a:t>
                      </a:r>
                      <a:endParaRPr lang="en-IN"/>
                    </a:p>
                  </a:txBody>
                  <a:tcPr anchor="ctr"/>
                </a:tc>
                <a:extLst>
                  <a:ext uri="{0D108BD9-81ED-4DB2-BD59-A6C34878D82A}">
                    <a16:rowId xmlns:a16="http://schemas.microsoft.com/office/drawing/2014/main" val="2396722425"/>
                  </a:ext>
                </a:extLst>
              </a:tr>
              <a:tr h="521643">
                <a:tc>
                  <a:txBody>
                    <a:bodyPr/>
                    <a:lstStyle/>
                    <a:p>
                      <a:pPr>
                        <a:buNone/>
                      </a:pPr>
                      <a:r>
                        <a:rPr lang="en-IN"/>
                        <a:t>Avg. Resolution Time</a:t>
                      </a:r>
                    </a:p>
                  </a:txBody>
                  <a:tcPr anchor="ctr"/>
                </a:tc>
                <a:tc>
                  <a:txBody>
                    <a:bodyPr/>
                    <a:lstStyle/>
                    <a:p>
                      <a:pPr algn="r">
                        <a:buNone/>
                      </a:pPr>
                      <a:r>
                        <a:rPr lang="en-IN" b="1"/>
                        <a:t>4.55 Days</a:t>
                      </a:r>
                      <a:endParaRPr lang="en-IN"/>
                    </a:p>
                  </a:txBody>
                  <a:tcPr anchor="ctr"/>
                </a:tc>
                <a:extLst>
                  <a:ext uri="{0D108BD9-81ED-4DB2-BD59-A6C34878D82A}">
                    <a16:rowId xmlns:a16="http://schemas.microsoft.com/office/drawing/2014/main" val="136579482"/>
                  </a:ext>
                </a:extLst>
              </a:tr>
              <a:tr h="521643">
                <a:tc>
                  <a:txBody>
                    <a:bodyPr/>
                    <a:lstStyle/>
                    <a:p>
                      <a:pPr>
                        <a:buNone/>
                      </a:pPr>
                      <a:r>
                        <a:rPr lang="en-IN"/>
                        <a:t>Avg. Satisfaction</a:t>
                      </a:r>
                    </a:p>
                  </a:txBody>
                  <a:tcPr anchor="ctr"/>
                </a:tc>
                <a:tc>
                  <a:txBody>
                    <a:bodyPr/>
                    <a:lstStyle/>
                    <a:p>
                      <a:pPr algn="r">
                        <a:buNone/>
                      </a:pPr>
                      <a:r>
                        <a:rPr lang="en-IN" b="1"/>
                        <a:t>4.1 / 5</a:t>
                      </a:r>
                      <a:endParaRPr lang="en-IN"/>
                    </a:p>
                  </a:txBody>
                  <a:tcPr anchor="ctr"/>
                </a:tc>
                <a:extLst>
                  <a:ext uri="{0D108BD9-81ED-4DB2-BD59-A6C34878D82A}">
                    <a16:rowId xmlns:a16="http://schemas.microsoft.com/office/drawing/2014/main" val="1699556912"/>
                  </a:ext>
                </a:extLst>
              </a:tr>
              <a:tr h="521643">
                <a:tc>
                  <a:txBody>
                    <a:bodyPr/>
                    <a:lstStyle/>
                    <a:p>
                      <a:pPr>
                        <a:buNone/>
                      </a:pPr>
                      <a:r>
                        <a:rPr lang="en-IN"/>
                        <a:t>Total Agents</a:t>
                      </a:r>
                    </a:p>
                  </a:txBody>
                  <a:tcPr anchor="ctr"/>
                </a:tc>
                <a:tc>
                  <a:txBody>
                    <a:bodyPr/>
                    <a:lstStyle/>
                    <a:p>
                      <a:pPr algn="r">
                        <a:buNone/>
                      </a:pPr>
                      <a:r>
                        <a:rPr lang="en-IN" b="1"/>
                        <a:t>50</a:t>
                      </a:r>
                      <a:endParaRPr lang="en-IN"/>
                    </a:p>
                  </a:txBody>
                  <a:tcPr anchor="ctr"/>
                </a:tc>
                <a:extLst>
                  <a:ext uri="{0D108BD9-81ED-4DB2-BD59-A6C34878D82A}">
                    <a16:rowId xmlns:a16="http://schemas.microsoft.com/office/drawing/2014/main" val="3016155948"/>
                  </a:ext>
                </a:extLst>
              </a:tr>
              <a:tr h="521643">
                <a:tc>
                  <a:txBody>
                    <a:bodyPr/>
                    <a:lstStyle/>
                    <a:p>
                      <a:pPr>
                        <a:buNone/>
                      </a:pPr>
                      <a:r>
                        <a:rPr lang="en-IN"/>
                        <a:t>Avg. Severity Score</a:t>
                      </a:r>
                    </a:p>
                  </a:txBody>
                  <a:tcPr anchor="ctr"/>
                </a:tc>
                <a:tc>
                  <a:txBody>
                    <a:bodyPr/>
                    <a:lstStyle/>
                    <a:p>
                      <a:pPr algn="r">
                        <a:buNone/>
                      </a:pPr>
                      <a:r>
                        <a:rPr lang="en-IN" b="1"/>
                        <a:t>2.05</a:t>
                      </a:r>
                      <a:endParaRPr lang="en-IN"/>
                    </a:p>
                  </a:txBody>
                  <a:tcPr anchor="ctr"/>
                </a:tc>
                <a:extLst>
                  <a:ext uri="{0D108BD9-81ED-4DB2-BD59-A6C34878D82A}">
                    <a16:rowId xmlns:a16="http://schemas.microsoft.com/office/drawing/2014/main" val="1487220020"/>
                  </a:ext>
                </a:extLst>
              </a:tr>
              <a:tr h="521643">
                <a:tc>
                  <a:txBody>
                    <a:bodyPr/>
                    <a:lstStyle/>
                    <a:p>
                      <a:pPr>
                        <a:buNone/>
                      </a:pPr>
                      <a:r>
                        <a:rPr lang="en-IN"/>
                        <a:t>Avg. Priority Score</a:t>
                      </a:r>
                    </a:p>
                  </a:txBody>
                  <a:tcPr anchor="ctr"/>
                </a:tc>
                <a:tc>
                  <a:txBody>
                    <a:bodyPr/>
                    <a:lstStyle/>
                    <a:p>
                      <a:pPr algn="r">
                        <a:buNone/>
                      </a:pPr>
                      <a:r>
                        <a:rPr lang="en-IN" b="1"/>
                        <a:t>1.59</a:t>
                      </a:r>
                      <a:endParaRPr lang="en-IN"/>
                    </a:p>
                  </a:txBody>
                  <a:tcPr anchor="ctr"/>
                </a:tc>
                <a:extLst>
                  <a:ext uri="{0D108BD9-81ED-4DB2-BD59-A6C34878D82A}">
                    <a16:rowId xmlns:a16="http://schemas.microsoft.com/office/drawing/2014/main" val="811958935"/>
                  </a:ext>
                </a:extLst>
              </a:tr>
              <a:tr h="521643">
                <a:tc>
                  <a:txBody>
                    <a:bodyPr/>
                    <a:lstStyle/>
                    <a:p>
                      <a:pPr>
                        <a:buNone/>
                      </a:pPr>
                      <a:r>
                        <a:rPr lang="en-IN"/>
                        <a:t>Avg. Agent Age</a:t>
                      </a:r>
                    </a:p>
                  </a:txBody>
                  <a:tcPr anchor="ctr"/>
                </a:tc>
                <a:tc>
                  <a:txBody>
                    <a:bodyPr/>
                    <a:lstStyle/>
                    <a:p>
                      <a:pPr algn="r">
                        <a:buNone/>
                      </a:pPr>
                      <a:r>
                        <a:rPr lang="en-IN" b="1"/>
                        <a:t>41.06</a:t>
                      </a:r>
                      <a:endParaRPr lang="en-IN"/>
                    </a:p>
                  </a:txBody>
                  <a:tcPr anchor="ctr"/>
                </a:tc>
                <a:extLst>
                  <a:ext uri="{0D108BD9-81ED-4DB2-BD59-A6C34878D82A}">
                    <a16:rowId xmlns:a16="http://schemas.microsoft.com/office/drawing/2014/main" val="1154574029"/>
                  </a:ext>
                </a:extLst>
              </a:tr>
              <a:tr h="521643">
                <a:tc>
                  <a:txBody>
                    <a:bodyPr/>
                    <a:lstStyle/>
                    <a:p>
                      <a:pPr>
                        <a:buNone/>
                      </a:pPr>
                      <a:r>
                        <a:rPr lang="en-IN"/>
                        <a:t>Daily Ticket Volume</a:t>
                      </a:r>
                    </a:p>
                  </a:txBody>
                  <a:tcPr anchor="ctr"/>
                </a:tc>
                <a:tc>
                  <a:txBody>
                    <a:bodyPr/>
                    <a:lstStyle/>
                    <a:p>
                      <a:pPr algn="r">
                        <a:buNone/>
                      </a:pPr>
                      <a:r>
                        <a:rPr lang="en-IN" b="1" dirty="0"/>
                        <a:t>53.68</a:t>
                      </a:r>
                      <a:endParaRPr lang="en-IN" dirty="0"/>
                    </a:p>
                  </a:txBody>
                  <a:tcPr anchor="ctr"/>
                </a:tc>
                <a:extLst>
                  <a:ext uri="{0D108BD9-81ED-4DB2-BD59-A6C34878D82A}">
                    <a16:rowId xmlns:a16="http://schemas.microsoft.com/office/drawing/2014/main" val="840338959"/>
                  </a:ext>
                </a:extLst>
              </a:tr>
            </a:tbl>
          </a:graphicData>
        </a:graphic>
      </p:graphicFrame>
      <p:sp>
        <p:nvSpPr>
          <p:cNvPr id="7" name="TextBox 6">
            <a:extLst>
              <a:ext uri="{FF2B5EF4-FFF2-40B4-BE49-F238E27FC236}">
                <a16:creationId xmlns:a16="http://schemas.microsoft.com/office/drawing/2014/main" id="{BE126D72-A756-19C6-DC2C-B5ECB8939D14}"/>
              </a:ext>
            </a:extLst>
          </p:cNvPr>
          <p:cNvSpPr txBox="1"/>
          <p:nvPr/>
        </p:nvSpPr>
        <p:spPr>
          <a:xfrm>
            <a:off x="6579706" y="1478241"/>
            <a:ext cx="4446103" cy="3901517"/>
          </a:xfrm>
          <a:prstGeom prst="rect">
            <a:avLst/>
          </a:prstGeom>
          <a:noFill/>
        </p:spPr>
        <p:txBody>
          <a:bodyPr wrap="square" rtlCol="0">
            <a:spAutoFit/>
          </a:bodyPr>
          <a:lstStyle/>
          <a:p>
            <a:pPr>
              <a:lnSpc>
                <a:spcPct val="150000"/>
              </a:lnSpc>
            </a:pPr>
            <a:r>
              <a:rPr lang="en-US" sz="2400" b="1" i="1" dirty="0">
                <a:solidFill>
                  <a:schemeClr val="accent3">
                    <a:lumMod val="50000"/>
                  </a:schemeClr>
                </a:solidFill>
              </a:rPr>
              <a:t>Insight: </a:t>
            </a:r>
            <a:r>
              <a:rPr lang="en-US" sz="2400" i="1" dirty="0">
                <a:solidFill>
                  <a:schemeClr val="accent3">
                    <a:lumMod val="50000"/>
                  </a:schemeClr>
                </a:solidFill>
              </a:rPr>
              <a:t>demand is substantial, while satisfaction remains strong.</a:t>
            </a:r>
          </a:p>
          <a:p>
            <a:pPr>
              <a:lnSpc>
                <a:spcPct val="150000"/>
              </a:lnSpc>
            </a:pPr>
            <a:endParaRPr lang="en-US" sz="2400" i="1" dirty="0">
              <a:solidFill>
                <a:schemeClr val="accent3">
                  <a:lumMod val="50000"/>
                </a:schemeClr>
              </a:solidFill>
            </a:endParaRPr>
          </a:p>
          <a:p>
            <a:pPr>
              <a:lnSpc>
                <a:spcPct val="150000"/>
              </a:lnSpc>
            </a:pPr>
            <a:r>
              <a:rPr lang="en-US" sz="2400" b="1" i="1" dirty="0">
                <a:solidFill>
                  <a:schemeClr val="accent3">
                    <a:lumMod val="50000"/>
                  </a:schemeClr>
                </a:solidFill>
              </a:rPr>
              <a:t>Recommendation: </a:t>
            </a:r>
            <a:r>
              <a:rPr lang="en-US" sz="2400" i="1" dirty="0">
                <a:solidFill>
                  <a:schemeClr val="accent3">
                    <a:lumMod val="50000"/>
                  </a:schemeClr>
                </a:solidFill>
              </a:rPr>
              <a:t>use the KPIs as the monitoring layer, then drill into bottlenecks before making staffing or investment decisions.</a:t>
            </a:r>
          </a:p>
        </p:txBody>
      </p:sp>
    </p:spTree>
    <p:extLst>
      <p:ext uri="{BB962C8B-B14F-4D97-AF65-F5344CB8AC3E}">
        <p14:creationId xmlns:p14="http://schemas.microsoft.com/office/powerpoint/2010/main" val="215630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43C7-1FF1-78C9-7A60-51454412614C}"/>
              </a:ext>
            </a:extLst>
          </p:cNvPr>
          <p:cNvSpPr>
            <a:spLocks noGrp="1"/>
          </p:cNvSpPr>
          <p:nvPr>
            <p:ph type="title"/>
          </p:nvPr>
        </p:nvSpPr>
        <p:spPr>
          <a:xfrm>
            <a:off x="838200" y="2352819"/>
            <a:ext cx="10515600" cy="1325563"/>
          </a:xfrm>
        </p:spPr>
        <p:txBody>
          <a:bodyPr/>
          <a:lstStyle/>
          <a:p>
            <a:pPr algn="ctr"/>
            <a:r>
              <a:rPr lang="en-IN" b="1" dirty="0">
                <a:solidFill>
                  <a:schemeClr val="accent3">
                    <a:lumMod val="50000"/>
                  </a:schemeClr>
                </a:solidFill>
              </a:rPr>
              <a:t>IS PERFORMANCE HOLDING UP?</a:t>
            </a:r>
          </a:p>
        </p:txBody>
      </p:sp>
    </p:spTree>
    <p:extLst>
      <p:ext uri="{BB962C8B-B14F-4D97-AF65-F5344CB8AC3E}">
        <p14:creationId xmlns:p14="http://schemas.microsoft.com/office/powerpoint/2010/main" val="340497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359A7-AC41-0876-1DFE-6760654E3CB7}"/>
              </a:ext>
            </a:extLst>
          </p:cNvPr>
          <p:cNvSpPr>
            <a:spLocks noGrp="1"/>
          </p:cNvSpPr>
          <p:nvPr>
            <p:ph type="title"/>
          </p:nvPr>
        </p:nvSpPr>
        <p:spPr>
          <a:xfrm>
            <a:off x="838200" y="-18661"/>
            <a:ext cx="10515600" cy="1091681"/>
          </a:xfrm>
        </p:spPr>
        <p:txBody>
          <a:bodyPr>
            <a:normAutofit/>
          </a:bodyPr>
          <a:lstStyle/>
          <a:p>
            <a:pPr algn="ctr"/>
            <a:r>
              <a:rPr lang="en-IN" sz="4000" b="1" dirty="0"/>
              <a:t>Monthly Performance Trend</a:t>
            </a:r>
          </a:p>
        </p:txBody>
      </p:sp>
      <p:sp>
        <p:nvSpPr>
          <p:cNvPr id="3" name="Content Placeholder 2">
            <a:extLst>
              <a:ext uri="{FF2B5EF4-FFF2-40B4-BE49-F238E27FC236}">
                <a16:creationId xmlns:a16="http://schemas.microsoft.com/office/drawing/2014/main" id="{65E8C2B3-74D1-BB52-BDDB-D15823B693D8}"/>
              </a:ext>
            </a:extLst>
          </p:cNvPr>
          <p:cNvSpPr>
            <a:spLocks noGrp="1"/>
          </p:cNvSpPr>
          <p:nvPr>
            <p:ph idx="1"/>
          </p:nvPr>
        </p:nvSpPr>
        <p:spPr>
          <a:xfrm>
            <a:off x="640080" y="938605"/>
            <a:ext cx="11399520" cy="2457474"/>
          </a:xfrm>
        </p:spPr>
        <p:txBody>
          <a:bodyPr>
            <a:normAutofit/>
          </a:bodyPr>
          <a:lstStyle/>
          <a:p>
            <a:pPr marL="457200" indent="-457200">
              <a:lnSpc>
                <a:spcPct val="100000"/>
              </a:lnSpc>
              <a:buFont typeface="+mj-lt"/>
              <a:buAutoNum type="arabicPeriod"/>
            </a:pPr>
            <a:r>
              <a:rPr lang="en-IN" sz="1600" b="1" dirty="0"/>
              <a:t>WHAT IT SHOWS:</a:t>
            </a:r>
          </a:p>
          <a:p>
            <a:pPr marL="457200" lvl="1" indent="0">
              <a:lnSpc>
                <a:spcPct val="100000"/>
              </a:lnSpc>
              <a:buNone/>
            </a:pPr>
            <a:r>
              <a:rPr lang="en-IN" sz="1600" dirty="0"/>
              <a:t>Tracks </a:t>
            </a:r>
            <a:r>
              <a:rPr lang="en-IN" sz="1600" b="1" dirty="0"/>
              <a:t>average resolution time and satisfaction rate month-by-month from 2016–2020</a:t>
            </a:r>
            <a:r>
              <a:rPr lang="en-IN" sz="1600" dirty="0"/>
              <a:t>.</a:t>
            </a:r>
          </a:p>
          <a:p>
            <a:pPr marL="457200" indent="-457200">
              <a:lnSpc>
                <a:spcPct val="100000"/>
              </a:lnSpc>
              <a:buFont typeface="+mj-lt"/>
              <a:buAutoNum type="arabicPeriod"/>
            </a:pPr>
            <a:r>
              <a:rPr lang="en-IN" sz="1600" b="1" dirty="0"/>
              <a:t>KEY INSIGHT</a:t>
            </a:r>
          </a:p>
          <a:p>
            <a:pPr marL="457200" lvl="1" indent="0">
              <a:lnSpc>
                <a:spcPct val="100000"/>
              </a:lnSpc>
              <a:buNone/>
            </a:pPr>
            <a:r>
              <a:rPr lang="en-IN" sz="1600" dirty="0"/>
              <a:t>Despite fluctuations, both metrics remain relatively stable, with satisfaction staying around </a:t>
            </a:r>
            <a:r>
              <a:rPr lang="en-IN" sz="1600" b="1" dirty="0"/>
              <a:t>4/5</a:t>
            </a:r>
            <a:r>
              <a:rPr lang="en-IN" sz="1600" dirty="0"/>
              <a:t> while resolution time remains around </a:t>
            </a:r>
            <a:r>
              <a:rPr lang="en-IN" sz="1600" b="1" dirty="0"/>
              <a:t>4.5 days</a:t>
            </a:r>
            <a:r>
              <a:rPr lang="en-IN" sz="1600" dirty="0"/>
              <a:t>.</a:t>
            </a:r>
          </a:p>
          <a:p>
            <a:pPr marL="457200" indent="-457200">
              <a:lnSpc>
                <a:spcPct val="100000"/>
              </a:lnSpc>
              <a:buFont typeface="+mj-lt"/>
              <a:buAutoNum type="arabicPeriod"/>
            </a:pPr>
            <a:r>
              <a:rPr lang="en-IN" sz="1600" b="1" dirty="0"/>
              <a:t>RECOMMENDATION</a:t>
            </a:r>
          </a:p>
          <a:p>
            <a:pPr marL="457200" lvl="1" indent="0">
              <a:lnSpc>
                <a:spcPct val="100000"/>
              </a:lnSpc>
              <a:buNone/>
            </a:pPr>
            <a:r>
              <a:rPr lang="en-IN" sz="1600" dirty="0"/>
              <a:t>Continue monitoring satisfaction and resolution time together so that </a:t>
            </a:r>
            <a:r>
              <a:rPr lang="en-IN" sz="1600" b="1" dirty="0"/>
              <a:t>future workload growth does not reduce service quality</a:t>
            </a:r>
            <a:r>
              <a:rPr lang="en-IN" sz="1600" dirty="0"/>
              <a:t>.</a:t>
            </a:r>
          </a:p>
        </p:txBody>
      </p:sp>
      <p:pic>
        <p:nvPicPr>
          <p:cNvPr id="5" name="Picture 4">
            <a:extLst>
              <a:ext uri="{FF2B5EF4-FFF2-40B4-BE49-F238E27FC236}">
                <a16:creationId xmlns:a16="http://schemas.microsoft.com/office/drawing/2014/main" id="{E4EDE9AF-45BE-1F76-8896-BEB6AB00EC2E}"/>
              </a:ext>
            </a:extLst>
          </p:cNvPr>
          <p:cNvPicPr>
            <a:picLocks noChangeAspect="1"/>
          </p:cNvPicPr>
          <p:nvPr/>
        </p:nvPicPr>
        <p:blipFill>
          <a:blip r:embed="rId2"/>
          <a:srcRect l="670" r="670"/>
          <a:stretch>
            <a:fillRect/>
          </a:stretch>
        </p:blipFill>
        <p:spPr>
          <a:xfrm>
            <a:off x="1166325" y="3598978"/>
            <a:ext cx="9993087" cy="27782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156557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F69CA-7AB3-47AA-EDE4-1ACF44692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AF9F3-BC09-42BE-8F94-23EEAF4F710E}"/>
              </a:ext>
            </a:extLst>
          </p:cNvPr>
          <p:cNvSpPr>
            <a:spLocks noGrp="1"/>
          </p:cNvSpPr>
          <p:nvPr>
            <p:ph type="title"/>
          </p:nvPr>
        </p:nvSpPr>
        <p:spPr>
          <a:xfrm>
            <a:off x="838200" y="2352819"/>
            <a:ext cx="10515600" cy="1325563"/>
          </a:xfrm>
        </p:spPr>
        <p:txBody>
          <a:bodyPr/>
          <a:lstStyle/>
          <a:p>
            <a:pPr algn="ctr"/>
            <a:r>
              <a:rPr lang="en-IN" b="1" dirty="0">
                <a:solidFill>
                  <a:schemeClr val="accent3">
                    <a:lumMod val="50000"/>
                  </a:schemeClr>
                </a:solidFill>
              </a:rPr>
              <a:t>HOW FAST ARE TICKETS BEING RESOLVED?</a:t>
            </a:r>
          </a:p>
        </p:txBody>
      </p:sp>
    </p:spTree>
    <p:extLst>
      <p:ext uri="{BB962C8B-B14F-4D97-AF65-F5344CB8AC3E}">
        <p14:creationId xmlns:p14="http://schemas.microsoft.com/office/powerpoint/2010/main" val="4021934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EFFBE-11DF-67B8-CB27-588CD8FDFADF}"/>
              </a:ext>
            </a:extLst>
          </p:cNvPr>
          <p:cNvSpPr>
            <a:spLocks noGrp="1"/>
          </p:cNvSpPr>
          <p:nvPr>
            <p:ph type="title"/>
          </p:nvPr>
        </p:nvSpPr>
        <p:spPr>
          <a:xfrm>
            <a:off x="713325" y="152400"/>
            <a:ext cx="10515600" cy="1325563"/>
          </a:xfrm>
        </p:spPr>
        <p:txBody>
          <a:bodyPr>
            <a:normAutofit/>
          </a:bodyPr>
          <a:lstStyle/>
          <a:p>
            <a:pPr algn="ctr"/>
            <a:r>
              <a:rPr lang="en-IN" sz="4000" b="1" dirty="0"/>
              <a:t>Distribution of Tickets by Resolution Time</a:t>
            </a:r>
          </a:p>
        </p:txBody>
      </p:sp>
      <p:pic>
        <p:nvPicPr>
          <p:cNvPr id="5" name="Content Placeholder 4">
            <a:extLst>
              <a:ext uri="{FF2B5EF4-FFF2-40B4-BE49-F238E27FC236}">
                <a16:creationId xmlns:a16="http://schemas.microsoft.com/office/drawing/2014/main" id="{C08EC0C9-31F7-02BA-F114-064626AFF107}"/>
              </a:ext>
            </a:extLst>
          </p:cNvPr>
          <p:cNvPicPr>
            <a:picLocks noGrp="1" noChangeAspect="1"/>
          </p:cNvPicPr>
          <p:nvPr>
            <p:ph idx="1"/>
          </p:nvPr>
        </p:nvPicPr>
        <p:blipFill>
          <a:blip r:embed="rId2"/>
          <a:srcRect l="566" r="60"/>
          <a:stretch>
            <a:fillRect/>
          </a:stretch>
        </p:blipFill>
        <p:spPr>
          <a:xfrm>
            <a:off x="1292289" y="3429000"/>
            <a:ext cx="9741159" cy="292953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a:extLst>
              <a:ext uri="{FF2B5EF4-FFF2-40B4-BE49-F238E27FC236}">
                <a16:creationId xmlns:a16="http://schemas.microsoft.com/office/drawing/2014/main" id="{646B53AF-96CC-1D91-9B72-50A75F231533}"/>
              </a:ext>
            </a:extLst>
          </p:cNvPr>
          <p:cNvSpPr txBox="1"/>
          <p:nvPr/>
        </p:nvSpPr>
        <p:spPr>
          <a:xfrm>
            <a:off x="713325" y="1250918"/>
            <a:ext cx="10765349" cy="2062103"/>
          </a:xfrm>
          <a:prstGeom prst="rect">
            <a:avLst/>
          </a:prstGeom>
          <a:noFill/>
        </p:spPr>
        <p:txBody>
          <a:bodyPr wrap="square" rtlCol="0">
            <a:spAutoFit/>
          </a:bodyPr>
          <a:lstStyle/>
          <a:p>
            <a:pPr marL="342900" indent="-342900">
              <a:buFont typeface="+mj-lt"/>
              <a:buAutoNum type="arabicPeriod"/>
            </a:pPr>
            <a:r>
              <a:rPr lang="en-IN" sz="1600" b="1" dirty="0"/>
              <a:t>WHAT IT SHOWS</a:t>
            </a:r>
          </a:p>
          <a:p>
            <a:pPr lvl="1"/>
            <a:r>
              <a:rPr lang="en-IN" sz="1600" dirty="0"/>
              <a:t>Shows the number of tickets resolved across different resolution durations.</a:t>
            </a:r>
          </a:p>
          <a:p>
            <a:pPr marL="342900" indent="-342900">
              <a:buFont typeface="+mj-lt"/>
              <a:buAutoNum type="arabicPeriod"/>
            </a:pPr>
            <a:r>
              <a:rPr lang="en-IN" sz="1600" b="1" dirty="0"/>
              <a:t>KEY INSIGHT</a:t>
            </a:r>
          </a:p>
          <a:p>
            <a:pPr lvl="1"/>
            <a:r>
              <a:rPr lang="en-IN" sz="1600" dirty="0"/>
              <a:t>The largest group — </a:t>
            </a:r>
            <a:r>
              <a:rPr lang="en-IN" sz="1600" b="1" dirty="0"/>
              <a:t>25,071 tickets — was resolved within 0 days</a:t>
            </a:r>
            <a:r>
              <a:rPr lang="en-IN" sz="1600" dirty="0"/>
              <a:t>, while progressively fewer tickets required very long resolution periods.</a:t>
            </a:r>
          </a:p>
          <a:p>
            <a:pPr marL="342900" indent="-342900">
              <a:buFont typeface="+mj-lt"/>
              <a:buAutoNum type="arabicPeriod"/>
            </a:pPr>
            <a:r>
              <a:rPr lang="en-IN" sz="1600" b="1" dirty="0"/>
              <a:t>RECOMMENDATION</a:t>
            </a:r>
          </a:p>
          <a:p>
            <a:pPr lvl="1"/>
            <a:r>
              <a:rPr lang="en-IN" sz="1600" dirty="0"/>
              <a:t>Investigate tickets in the </a:t>
            </a:r>
            <a:r>
              <a:rPr lang="en-IN" sz="1600" b="1" dirty="0"/>
              <a:t>long-resolution tail</a:t>
            </a:r>
            <a:r>
              <a:rPr lang="en-IN" sz="1600" dirty="0"/>
              <a:t> to identify recurring causes of delays and opportunities for process improvement.</a:t>
            </a:r>
          </a:p>
        </p:txBody>
      </p:sp>
    </p:spTree>
    <p:extLst>
      <p:ext uri="{BB962C8B-B14F-4D97-AF65-F5344CB8AC3E}">
        <p14:creationId xmlns:p14="http://schemas.microsoft.com/office/powerpoint/2010/main" val="236095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2B95-D16D-FA21-E801-308707B62130}"/>
              </a:ext>
            </a:extLst>
          </p:cNvPr>
          <p:cNvSpPr>
            <a:spLocks noGrp="1"/>
          </p:cNvSpPr>
          <p:nvPr>
            <p:ph type="title"/>
          </p:nvPr>
        </p:nvSpPr>
        <p:spPr>
          <a:xfrm>
            <a:off x="838200" y="421796"/>
            <a:ext cx="10515600" cy="1325563"/>
          </a:xfrm>
        </p:spPr>
        <p:txBody>
          <a:bodyPr>
            <a:normAutofit/>
          </a:bodyPr>
          <a:lstStyle/>
          <a:p>
            <a:pPr algn="ctr"/>
            <a:r>
              <a:rPr lang="en-IN" sz="4000" b="1" dirty="0"/>
              <a:t>Quarterly Average Resolution Time by Request Category</a:t>
            </a:r>
          </a:p>
        </p:txBody>
      </p:sp>
      <p:pic>
        <p:nvPicPr>
          <p:cNvPr id="5" name="Content Placeholder 4">
            <a:extLst>
              <a:ext uri="{FF2B5EF4-FFF2-40B4-BE49-F238E27FC236}">
                <a16:creationId xmlns:a16="http://schemas.microsoft.com/office/drawing/2014/main" id="{F4662156-DFAE-5EF9-5A06-8C11CBA25D6F}"/>
              </a:ext>
            </a:extLst>
          </p:cNvPr>
          <p:cNvPicPr>
            <a:picLocks noGrp="1" noChangeAspect="1"/>
          </p:cNvPicPr>
          <p:nvPr>
            <p:ph idx="1"/>
          </p:nvPr>
        </p:nvPicPr>
        <p:blipFill>
          <a:blip r:embed="rId2"/>
          <a:srcRect l="496"/>
          <a:stretch>
            <a:fillRect/>
          </a:stretch>
        </p:blipFill>
        <p:spPr>
          <a:xfrm>
            <a:off x="470363" y="2194561"/>
            <a:ext cx="6207527" cy="36222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a:extLst>
              <a:ext uri="{FF2B5EF4-FFF2-40B4-BE49-F238E27FC236}">
                <a16:creationId xmlns:a16="http://schemas.microsoft.com/office/drawing/2014/main" id="{0F410FB0-64BC-9EEF-20ED-2EBB7CA72792}"/>
              </a:ext>
            </a:extLst>
          </p:cNvPr>
          <p:cNvSpPr txBox="1"/>
          <p:nvPr/>
        </p:nvSpPr>
        <p:spPr>
          <a:xfrm>
            <a:off x="6677890" y="1747359"/>
            <a:ext cx="5043747" cy="4847802"/>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Compares average resolution time for </a:t>
            </a:r>
            <a:r>
              <a:rPr lang="en-IN" sz="1600" b="1" dirty="0"/>
              <a:t>Hardware, Login Access, Software and System requests quarter-by-quarter from 2016–2020</a:t>
            </a:r>
            <a:r>
              <a:rPr lang="en-IN" sz="1600" dirty="0"/>
              <a:t>.</a:t>
            </a:r>
          </a:p>
          <a:p>
            <a:pPr marL="342900" indent="-342900">
              <a:lnSpc>
                <a:spcPct val="150000"/>
              </a:lnSpc>
              <a:buFont typeface="+mj-lt"/>
              <a:buAutoNum type="arabicPeriod"/>
            </a:pPr>
            <a:r>
              <a:rPr lang="en-IN" sz="1600" b="1" dirty="0"/>
              <a:t>KEY INSIGHT</a:t>
            </a:r>
          </a:p>
          <a:p>
            <a:pPr lvl="1">
              <a:lnSpc>
                <a:spcPct val="150000"/>
              </a:lnSpc>
            </a:pPr>
            <a:r>
              <a:rPr lang="en-IN" sz="1600" dirty="0"/>
              <a:t>Hardware consistently records the </a:t>
            </a:r>
            <a:r>
              <a:rPr lang="en-IN" sz="1600" b="1" dirty="0"/>
              <a:t>highest resolution time across quarters</a:t>
            </a:r>
            <a:r>
              <a:rPr lang="en-IN" sz="1600" dirty="0"/>
              <a:t>, showing that the issue is a persistent operational bottleneck rather than a temporary spike.</a:t>
            </a:r>
          </a:p>
          <a:p>
            <a:pPr marL="342900" indent="-342900">
              <a:lnSpc>
                <a:spcPct val="150000"/>
              </a:lnSpc>
              <a:buFont typeface="+mj-lt"/>
              <a:buAutoNum type="arabicPeriod"/>
            </a:pPr>
            <a:r>
              <a:rPr lang="en-IN" sz="1600" b="1" dirty="0"/>
              <a:t>RECOMMENDATION</a:t>
            </a:r>
          </a:p>
          <a:p>
            <a:pPr lvl="1">
              <a:lnSpc>
                <a:spcPct val="150000"/>
              </a:lnSpc>
            </a:pPr>
            <a:r>
              <a:rPr lang="en-IN" sz="1600" dirty="0"/>
              <a:t>Investigate </a:t>
            </a:r>
            <a:r>
              <a:rPr lang="en-IN" sz="1600" b="1" dirty="0"/>
              <a:t>hardware availability, replacement procedures, vendor dependencies and escalation processes</a:t>
            </a:r>
            <a:r>
              <a:rPr lang="en-IN" sz="1600" dirty="0"/>
              <a:t>.</a:t>
            </a:r>
          </a:p>
        </p:txBody>
      </p:sp>
    </p:spTree>
    <p:extLst>
      <p:ext uri="{BB962C8B-B14F-4D97-AF65-F5344CB8AC3E}">
        <p14:creationId xmlns:p14="http://schemas.microsoft.com/office/powerpoint/2010/main" val="112609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1AD0-7A6E-235E-E2C3-F7DB9E78871D}"/>
              </a:ext>
            </a:extLst>
          </p:cNvPr>
          <p:cNvSpPr>
            <a:spLocks noGrp="1"/>
          </p:cNvSpPr>
          <p:nvPr>
            <p:ph type="title"/>
          </p:nvPr>
        </p:nvSpPr>
        <p:spPr>
          <a:xfrm>
            <a:off x="838200" y="2318616"/>
            <a:ext cx="10515600" cy="1325563"/>
          </a:xfrm>
        </p:spPr>
        <p:txBody>
          <a:bodyPr/>
          <a:lstStyle/>
          <a:p>
            <a:r>
              <a:rPr lang="en-IN" b="1" dirty="0">
                <a:solidFill>
                  <a:schemeClr val="accent3">
                    <a:lumMod val="50000"/>
                  </a:schemeClr>
                </a:solidFill>
              </a:rPr>
              <a:t>WHAT IS DRIVING SUPPORT DEMAND?</a:t>
            </a:r>
          </a:p>
        </p:txBody>
      </p:sp>
    </p:spTree>
    <p:extLst>
      <p:ext uri="{BB962C8B-B14F-4D97-AF65-F5344CB8AC3E}">
        <p14:creationId xmlns:p14="http://schemas.microsoft.com/office/powerpoint/2010/main" val="3597555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BA79-1FFB-B650-0C43-C1AEBDD787DC}"/>
              </a:ext>
            </a:extLst>
          </p:cNvPr>
          <p:cNvSpPr>
            <a:spLocks noGrp="1"/>
          </p:cNvSpPr>
          <p:nvPr>
            <p:ph type="title"/>
          </p:nvPr>
        </p:nvSpPr>
        <p:spPr>
          <a:xfrm>
            <a:off x="838200" y="253783"/>
            <a:ext cx="10515600" cy="1131672"/>
          </a:xfrm>
        </p:spPr>
        <p:txBody>
          <a:bodyPr>
            <a:normAutofit/>
          </a:bodyPr>
          <a:lstStyle/>
          <a:p>
            <a:pPr algn="ctr"/>
            <a:r>
              <a:rPr lang="en-IN" sz="4000" b="1" dirty="0"/>
              <a:t>Tickets by Request Category</a:t>
            </a:r>
          </a:p>
        </p:txBody>
      </p:sp>
      <p:pic>
        <p:nvPicPr>
          <p:cNvPr id="5" name="Content Placeholder 4">
            <a:extLst>
              <a:ext uri="{FF2B5EF4-FFF2-40B4-BE49-F238E27FC236}">
                <a16:creationId xmlns:a16="http://schemas.microsoft.com/office/drawing/2014/main" id="{B4A52226-CDB8-9268-813F-6BD31F71B345}"/>
              </a:ext>
            </a:extLst>
          </p:cNvPr>
          <p:cNvPicPr>
            <a:picLocks noGrp="1" noChangeAspect="1"/>
          </p:cNvPicPr>
          <p:nvPr>
            <p:ph idx="1"/>
          </p:nvPr>
        </p:nvPicPr>
        <p:blipFill>
          <a:blip r:embed="rId2"/>
          <a:srcRect l="218"/>
          <a:stretch>
            <a:fillRect/>
          </a:stretch>
        </p:blipFill>
        <p:spPr>
          <a:xfrm>
            <a:off x="713509" y="1603952"/>
            <a:ext cx="5950527" cy="386859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a:extLst>
              <a:ext uri="{FF2B5EF4-FFF2-40B4-BE49-F238E27FC236}">
                <a16:creationId xmlns:a16="http://schemas.microsoft.com/office/drawing/2014/main" id="{E5F950EE-8836-5D3E-D034-7F1B8FFB06A3}"/>
              </a:ext>
            </a:extLst>
          </p:cNvPr>
          <p:cNvSpPr txBox="1"/>
          <p:nvPr/>
        </p:nvSpPr>
        <p:spPr>
          <a:xfrm>
            <a:off x="6774872" y="1483679"/>
            <a:ext cx="4703619" cy="4109138"/>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Breaks the total ticket workload into four major request categories.</a:t>
            </a:r>
          </a:p>
          <a:p>
            <a:pPr marL="342900" indent="-342900">
              <a:lnSpc>
                <a:spcPct val="150000"/>
              </a:lnSpc>
              <a:buFont typeface="+mj-lt"/>
              <a:buAutoNum type="arabicPeriod"/>
            </a:pPr>
            <a:r>
              <a:rPr lang="en-IN" sz="1600" b="1" dirty="0"/>
              <a:t>KEY INSIGHT</a:t>
            </a:r>
          </a:p>
          <a:p>
            <a:pPr lvl="1">
              <a:lnSpc>
                <a:spcPct val="150000"/>
              </a:lnSpc>
            </a:pPr>
            <a:r>
              <a:rPr lang="en-IN" sz="1600" b="1" dirty="0"/>
              <a:t>System requests are the largest category with 39,002 tickets</a:t>
            </a:r>
            <a:r>
              <a:rPr lang="en-IN" sz="1600" dirty="0"/>
              <a:t>, followed by Login Access with </a:t>
            </a:r>
            <a:r>
              <a:rPr lang="en-IN" sz="1600" b="1" dirty="0"/>
              <a:t>29,193</a:t>
            </a:r>
            <a:r>
              <a:rPr lang="en-IN" sz="1600" dirty="0"/>
              <a:t>.</a:t>
            </a:r>
          </a:p>
          <a:p>
            <a:pPr marL="342900" indent="-342900">
              <a:lnSpc>
                <a:spcPct val="150000"/>
              </a:lnSpc>
              <a:buFont typeface="+mj-lt"/>
              <a:buAutoNum type="arabicPeriod"/>
            </a:pPr>
            <a:r>
              <a:rPr lang="en-IN" sz="1600" b="1" dirty="0"/>
              <a:t>RECOMMENDATION</a:t>
            </a:r>
          </a:p>
          <a:p>
            <a:pPr lvl="1">
              <a:lnSpc>
                <a:spcPct val="150000"/>
              </a:lnSpc>
            </a:pPr>
            <a:r>
              <a:rPr lang="en-IN" sz="1600" dirty="0"/>
              <a:t>Prioritize </a:t>
            </a:r>
            <a:r>
              <a:rPr lang="en-IN" sz="1600" b="1" dirty="0"/>
              <a:t>automation, standardized workflows and self-service solutions</a:t>
            </a:r>
            <a:r>
              <a:rPr lang="en-IN" sz="1600" dirty="0"/>
              <a:t> for high-volume System and Login Access requests.</a:t>
            </a:r>
          </a:p>
        </p:txBody>
      </p:sp>
    </p:spTree>
    <p:extLst>
      <p:ext uri="{BB962C8B-B14F-4D97-AF65-F5344CB8AC3E}">
        <p14:creationId xmlns:p14="http://schemas.microsoft.com/office/powerpoint/2010/main" val="1238405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B94B9-77F5-DCD5-CE12-D454A591E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540B9-4E27-FA1B-B8A6-C5761124366F}"/>
              </a:ext>
            </a:extLst>
          </p:cNvPr>
          <p:cNvSpPr>
            <a:spLocks noGrp="1"/>
          </p:cNvSpPr>
          <p:nvPr>
            <p:ph type="title"/>
          </p:nvPr>
        </p:nvSpPr>
        <p:spPr>
          <a:xfrm>
            <a:off x="838200" y="253783"/>
            <a:ext cx="10515600" cy="1131672"/>
          </a:xfrm>
        </p:spPr>
        <p:txBody>
          <a:bodyPr>
            <a:normAutofit/>
          </a:bodyPr>
          <a:lstStyle/>
          <a:p>
            <a:pPr algn="ctr"/>
            <a:r>
              <a:rPr lang="en-IN" sz="4000" b="1" dirty="0"/>
              <a:t>Tickets by Issue Type</a:t>
            </a:r>
          </a:p>
        </p:txBody>
      </p:sp>
      <p:sp>
        <p:nvSpPr>
          <p:cNvPr id="6" name="TextBox 5">
            <a:extLst>
              <a:ext uri="{FF2B5EF4-FFF2-40B4-BE49-F238E27FC236}">
                <a16:creationId xmlns:a16="http://schemas.microsoft.com/office/drawing/2014/main" id="{7332889B-2353-AB10-603D-23823F15EC39}"/>
              </a:ext>
            </a:extLst>
          </p:cNvPr>
          <p:cNvSpPr txBox="1"/>
          <p:nvPr/>
        </p:nvSpPr>
        <p:spPr>
          <a:xfrm>
            <a:off x="6365268" y="1600821"/>
            <a:ext cx="5535787" cy="3739806"/>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Compares the number of general IT Requests against IT Error tickets.</a:t>
            </a:r>
          </a:p>
          <a:p>
            <a:pPr marL="342900" indent="-342900">
              <a:lnSpc>
                <a:spcPct val="150000"/>
              </a:lnSpc>
              <a:buFont typeface="+mj-lt"/>
              <a:buAutoNum type="arabicPeriod"/>
            </a:pPr>
            <a:r>
              <a:rPr lang="en-IN" sz="1600" b="1" dirty="0"/>
              <a:t>KEY INSIGHT</a:t>
            </a:r>
          </a:p>
          <a:p>
            <a:pPr lvl="1">
              <a:lnSpc>
                <a:spcPct val="150000"/>
              </a:lnSpc>
            </a:pPr>
            <a:r>
              <a:rPr lang="en-IN" sz="1600" dirty="0"/>
              <a:t>IT Requests account for approximately </a:t>
            </a:r>
            <a:r>
              <a:rPr lang="en-IN" sz="1600" b="1" dirty="0"/>
              <a:t>75% of all tickets</a:t>
            </a:r>
            <a:r>
              <a:rPr lang="en-IN" sz="1600" dirty="0"/>
              <a:t>, making them the dominant source of support workload.</a:t>
            </a:r>
          </a:p>
          <a:p>
            <a:pPr marL="342900" indent="-342900">
              <a:lnSpc>
                <a:spcPct val="150000"/>
              </a:lnSpc>
              <a:buFont typeface="+mj-lt"/>
              <a:buAutoNum type="arabicPeriod"/>
            </a:pPr>
            <a:r>
              <a:rPr lang="en-IN" sz="1600" b="1" dirty="0"/>
              <a:t>RECOMMENDATION</a:t>
            </a:r>
          </a:p>
          <a:p>
            <a:pPr lvl="1">
              <a:lnSpc>
                <a:spcPct val="150000"/>
              </a:lnSpc>
            </a:pPr>
            <a:r>
              <a:rPr lang="en-IN" sz="1600" dirty="0"/>
              <a:t>Identify frequently repeated IT Requests that could be moved to </a:t>
            </a:r>
            <a:r>
              <a:rPr lang="en-IN" sz="1600" b="1" dirty="0"/>
              <a:t>self-service portals, FAQs or automated workflows</a:t>
            </a:r>
            <a:r>
              <a:rPr lang="en-IN" sz="1600" dirty="0"/>
              <a:t>.</a:t>
            </a:r>
          </a:p>
        </p:txBody>
      </p:sp>
      <p:pic>
        <p:nvPicPr>
          <p:cNvPr id="10" name="Content Placeholder 9">
            <a:extLst>
              <a:ext uri="{FF2B5EF4-FFF2-40B4-BE49-F238E27FC236}">
                <a16:creationId xmlns:a16="http://schemas.microsoft.com/office/drawing/2014/main" id="{CF206419-0901-08D0-972A-CAAC03D560EB}"/>
              </a:ext>
            </a:extLst>
          </p:cNvPr>
          <p:cNvPicPr>
            <a:picLocks noGrp="1" noChangeAspect="1"/>
          </p:cNvPicPr>
          <p:nvPr>
            <p:ph idx="1"/>
          </p:nvPr>
        </p:nvPicPr>
        <p:blipFill>
          <a:blip r:embed="rId2"/>
          <a:srcRect l="1363"/>
          <a:stretch>
            <a:fillRect/>
          </a:stretch>
        </p:blipFill>
        <p:spPr>
          <a:xfrm>
            <a:off x="415636" y="1628690"/>
            <a:ext cx="5949632" cy="36563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703443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67760-9F5F-A349-1F0D-CEEA5DE77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EAEB6-736E-7F63-E390-36F1DDCDAF27}"/>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HOW COMPLEX/URGENT ARE THE TICKETS?</a:t>
            </a:r>
          </a:p>
        </p:txBody>
      </p:sp>
    </p:spTree>
    <p:extLst>
      <p:ext uri="{BB962C8B-B14F-4D97-AF65-F5344CB8AC3E}">
        <p14:creationId xmlns:p14="http://schemas.microsoft.com/office/powerpoint/2010/main" val="1196155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057D7-89A4-4C94-CA19-CE07B318D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68E09-F528-406A-959B-86A5A600C646}"/>
              </a:ext>
            </a:extLst>
          </p:cNvPr>
          <p:cNvSpPr>
            <a:spLocks noGrp="1"/>
          </p:cNvSpPr>
          <p:nvPr>
            <p:ph type="title"/>
          </p:nvPr>
        </p:nvSpPr>
        <p:spPr>
          <a:xfrm>
            <a:off x="838200" y="253783"/>
            <a:ext cx="10515600" cy="1131672"/>
          </a:xfrm>
        </p:spPr>
        <p:txBody>
          <a:bodyPr>
            <a:normAutofit/>
          </a:bodyPr>
          <a:lstStyle/>
          <a:p>
            <a:pPr algn="ctr"/>
            <a:r>
              <a:rPr lang="en-IN" sz="4000" b="1" dirty="0"/>
              <a:t>Tickets by Severity</a:t>
            </a:r>
          </a:p>
        </p:txBody>
      </p:sp>
      <p:sp>
        <p:nvSpPr>
          <p:cNvPr id="6" name="TextBox 5">
            <a:extLst>
              <a:ext uri="{FF2B5EF4-FFF2-40B4-BE49-F238E27FC236}">
                <a16:creationId xmlns:a16="http://schemas.microsoft.com/office/drawing/2014/main" id="{830179DA-A62A-4565-6DEF-E3DB8F2F8304}"/>
              </a:ext>
            </a:extLst>
          </p:cNvPr>
          <p:cNvSpPr txBox="1"/>
          <p:nvPr/>
        </p:nvSpPr>
        <p:spPr>
          <a:xfrm>
            <a:off x="6470074" y="1492725"/>
            <a:ext cx="5008417" cy="4109138"/>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Shows how total tickets are distributed across severity levels.</a:t>
            </a:r>
          </a:p>
          <a:p>
            <a:pPr marL="342900" indent="-342900">
              <a:lnSpc>
                <a:spcPct val="150000"/>
              </a:lnSpc>
              <a:buFont typeface="+mj-lt"/>
              <a:buAutoNum type="arabicPeriod"/>
            </a:pPr>
            <a:r>
              <a:rPr lang="en-IN" sz="1600" b="1" dirty="0"/>
              <a:t>KEY INSIGHT</a:t>
            </a:r>
          </a:p>
          <a:p>
            <a:pPr lvl="1">
              <a:lnSpc>
                <a:spcPct val="150000"/>
              </a:lnSpc>
            </a:pPr>
            <a:r>
              <a:rPr lang="en-IN" sz="1600" dirty="0"/>
              <a:t>The overwhelming majority of tickets — </a:t>
            </a:r>
            <a:r>
              <a:rPr lang="en-IN" sz="1600" b="1" dirty="0"/>
              <a:t>88,656 — are Normal severity</a:t>
            </a:r>
            <a:r>
              <a:rPr lang="en-IN" sz="1600" dirty="0"/>
              <a:t>, while Major and Urgent tickets represent a much smaller share.</a:t>
            </a:r>
          </a:p>
          <a:p>
            <a:pPr marL="342900" indent="-342900">
              <a:lnSpc>
                <a:spcPct val="150000"/>
              </a:lnSpc>
              <a:buFont typeface="+mj-lt"/>
              <a:buAutoNum type="arabicPeriod"/>
            </a:pPr>
            <a:r>
              <a:rPr lang="en-IN" sz="1600" b="1" dirty="0"/>
              <a:t>RECOMMENDATION</a:t>
            </a:r>
          </a:p>
          <a:p>
            <a:pPr lvl="1">
              <a:lnSpc>
                <a:spcPct val="150000"/>
              </a:lnSpc>
            </a:pPr>
            <a:r>
              <a:rPr lang="en-IN" sz="1600" dirty="0"/>
              <a:t>Standardize and automate workflows for </a:t>
            </a:r>
            <a:r>
              <a:rPr lang="en-IN" sz="1600" b="1" dirty="0"/>
              <a:t>high-volume Normal tickets</a:t>
            </a:r>
            <a:r>
              <a:rPr lang="en-IN" sz="1600" dirty="0"/>
              <a:t>, while maintaining clear escalation procedures for Major and Urgent issues.</a:t>
            </a:r>
          </a:p>
        </p:txBody>
      </p:sp>
      <p:pic>
        <p:nvPicPr>
          <p:cNvPr id="10" name="Content Placeholder 9">
            <a:extLst>
              <a:ext uri="{FF2B5EF4-FFF2-40B4-BE49-F238E27FC236}">
                <a16:creationId xmlns:a16="http://schemas.microsoft.com/office/drawing/2014/main" id="{0F9FA095-BB5B-E96A-9C1A-C4BF53A670C7}"/>
              </a:ext>
            </a:extLst>
          </p:cNvPr>
          <p:cNvPicPr>
            <a:picLocks noGrp="1" noChangeAspect="1"/>
          </p:cNvPicPr>
          <p:nvPr>
            <p:ph idx="1"/>
          </p:nvPr>
        </p:nvPicPr>
        <p:blipFill>
          <a:blip r:embed="rId2"/>
          <a:srcRect l="1447" t="2331" r="6506" b="5683"/>
          <a:stretch>
            <a:fillRect/>
          </a:stretch>
        </p:blipFill>
        <p:spPr>
          <a:xfrm>
            <a:off x="415637" y="1367361"/>
            <a:ext cx="6054437" cy="434177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94462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087A6-9A98-72A0-E932-A91FC5303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490D8-13A5-4FA8-9429-9CD197374EA4}"/>
              </a:ext>
            </a:extLst>
          </p:cNvPr>
          <p:cNvSpPr>
            <a:spLocks noGrp="1"/>
          </p:cNvSpPr>
          <p:nvPr>
            <p:ph type="title"/>
          </p:nvPr>
        </p:nvSpPr>
        <p:spPr>
          <a:xfrm>
            <a:off x="838200" y="253783"/>
            <a:ext cx="10515600" cy="1131672"/>
          </a:xfrm>
        </p:spPr>
        <p:txBody>
          <a:bodyPr>
            <a:normAutofit/>
          </a:bodyPr>
          <a:lstStyle/>
          <a:p>
            <a:pPr algn="ctr"/>
            <a:r>
              <a:rPr lang="en-IN" sz="4000" b="1" dirty="0"/>
              <a:t>Tickets by Priority</a:t>
            </a:r>
          </a:p>
        </p:txBody>
      </p:sp>
      <p:sp>
        <p:nvSpPr>
          <p:cNvPr id="6" name="TextBox 5">
            <a:extLst>
              <a:ext uri="{FF2B5EF4-FFF2-40B4-BE49-F238E27FC236}">
                <a16:creationId xmlns:a16="http://schemas.microsoft.com/office/drawing/2014/main" id="{64A1011C-30DA-15FE-ED8A-D5695BBB3DE6}"/>
              </a:ext>
            </a:extLst>
          </p:cNvPr>
          <p:cNvSpPr txBox="1"/>
          <p:nvPr/>
        </p:nvSpPr>
        <p:spPr>
          <a:xfrm>
            <a:off x="6470074" y="1483679"/>
            <a:ext cx="5008417" cy="4109138"/>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Shows how total tickets are distributed across assigned priority levels.</a:t>
            </a:r>
          </a:p>
          <a:p>
            <a:pPr marL="342900" indent="-342900">
              <a:lnSpc>
                <a:spcPct val="150000"/>
              </a:lnSpc>
              <a:buFont typeface="+mj-lt"/>
              <a:buAutoNum type="arabicPeriod"/>
            </a:pPr>
            <a:r>
              <a:rPr lang="en-IN" sz="1600" b="1" dirty="0"/>
              <a:t>KEY INSIGHT</a:t>
            </a:r>
          </a:p>
          <a:p>
            <a:pPr lvl="1">
              <a:lnSpc>
                <a:spcPct val="150000"/>
              </a:lnSpc>
            </a:pPr>
            <a:r>
              <a:rPr lang="en-IN" sz="1600" b="1" dirty="0"/>
              <a:t>High-priority tickets form the largest group at 35,549</a:t>
            </a:r>
            <a:r>
              <a:rPr lang="en-IN" sz="1600" dirty="0"/>
              <a:t>, while </a:t>
            </a:r>
            <a:r>
              <a:rPr lang="en-IN" sz="1600" b="1" dirty="0"/>
              <a:t>29,410 tickets remain Unassigned</a:t>
            </a:r>
            <a:r>
              <a:rPr lang="en-IN" sz="1600" dirty="0"/>
              <a:t>, which is also a substantial proportion.</a:t>
            </a:r>
          </a:p>
          <a:p>
            <a:pPr marL="342900" indent="-342900">
              <a:lnSpc>
                <a:spcPct val="150000"/>
              </a:lnSpc>
              <a:buFont typeface="+mj-lt"/>
              <a:buAutoNum type="arabicPeriod"/>
            </a:pPr>
            <a:r>
              <a:rPr lang="en-IN" sz="1600" b="1" dirty="0"/>
              <a:t>RECOMMENDATION</a:t>
            </a:r>
          </a:p>
          <a:p>
            <a:pPr lvl="1">
              <a:lnSpc>
                <a:spcPct val="150000"/>
              </a:lnSpc>
            </a:pPr>
            <a:r>
              <a:rPr lang="en-IN" sz="1600" dirty="0"/>
              <a:t>Review </a:t>
            </a:r>
            <a:r>
              <a:rPr lang="en-IN" sz="1600" b="1" dirty="0"/>
              <a:t>priority classification and assignment rules</a:t>
            </a:r>
            <a:r>
              <a:rPr lang="en-IN" sz="1600" dirty="0"/>
              <a:t>, particularly for Unassigned tickets, to improve routing consistency and workload management.</a:t>
            </a:r>
          </a:p>
        </p:txBody>
      </p:sp>
      <p:pic>
        <p:nvPicPr>
          <p:cNvPr id="7" name="Content Placeholder 6">
            <a:extLst>
              <a:ext uri="{FF2B5EF4-FFF2-40B4-BE49-F238E27FC236}">
                <a16:creationId xmlns:a16="http://schemas.microsoft.com/office/drawing/2014/main" id="{F8651C52-0454-AA30-C738-8DC47CFBF1C8}"/>
              </a:ext>
            </a:extLst>
          </p:cNvPr>
          <p:cNvPicPr>
            <a:picLocks noGrp="1" noChangeAspect="1"/>
          </p:cNvPicPr>
          <p:nvPr>
            <p:ph idx="1"/>
          </p:nvPr>
        </p:nvPicPr>
        <p:blipFill>
          <a:blip r:embed="rId2"/>
          <a:srcRect l="1116" t="3143" r="2120" b="3309"/>
          <a:stretch>
            <a:fillRect/>
          </a:stretch>
        </p:blipFill>
        <p:spPr>
          <a:xfrm>
            <a:off x="455315" y="1575264"/>
            <a:ext cx="6014759" cy="37990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2905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B54C-2B03-14B1-E110-4AE37F419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0B214-2B67-16D0-F87B-2A521738BDEE}"/>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HOW FAST IS DEMAND GROWING?</a:t>
            </a:r>
          </a:p>
        </p:txBody>
      </p:sp>
    </p:spTree>
    <p:extLst>
      <p:ext uri="{BB962C8B-B14F-4D97-AF65-F5344CB8AC3E}">
        <p14:creationId xmlns:p14="http://schemas.microsoft.com/office/powerpoint/2010/main" val="3217914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10414-0644-F52E-3878-A9AE1EA44329}"/>
              </a:ext>
            </a:extLst>
          </p:cNvPr>
          <p:cNvSpPr>
            <a:spLocks noGrp="1"/>
          </p:cNvSpPr>
          <p:nvPr>
            <p:ph type="title"/>
          </p:nvPr>
        </p:nvSpPr>
        <p:spPr>
          <a:xfrm>
            <a:off x="838200" y="27921"/>
            <a:ext cx="10515600" cy="1237000"/>
          </a:xfrm>
        </p:spPr>
        <p:txBody>
          <a:bodyPr>
            <a:normAutofit/>
          </a:bodyPr>
          <a:lstStyle/>
          <a:p>
            <a:pPr algn="ctr"/>
            <a:r>
              <a:rPr lang="en-IN" sz="4000" b="1" dirty="0"/>
              <a:t>Yearly Ticket Volume Trend</a:t>
            </a:r>
          </a:p>
        </p:txBody>
      </p:sp>
      <p:sp>
        <p:nvSpPr>
          <p:cNvPr id="3" name="Content Placeholder 2">
            <a:extLst>
              <a:ext uri="{FF2B5EF4-FFF2-40B4-BE49-F238E27FC236}">
                <a16:creationId xmlns:a16="http://schemas.microsoft.com/office/drawing/2014/main" id="{86466664-C786-BF28-C912-22C4C2ED03A0}"/>
              </a:ext>
            </a:extLst>
          </p:cNvPr>
          <p:cNvSpPr>
            <a:spLocks noGrp="1"/>
          </p:cNvSpPr>
          <p:nvPr>
            <p:ph idx="1"/>
          </p:nvPr>
        </p:nvSpPr>
        <p:spPr>
          <a:xfrm>
            <a:off x="5577840" y="1646364"/>
            <a:ext cx="6126480" cy="3781953"/>
          </a:xfrm>
        </p:spPr>
        <p:txBody>
          <a:bodyPr>
            <a:noAutofit/>
          </a:bodyPr>
          <a:lstStyle/>
          <a:p>
            <a:pPr marL="514350" indent="-514350">
              <a:lnSpc>
                <a:spcPct val="150000"/>
              </a:lnSpc>
              <a:buFont typeface="+mj-lt"/>
              <a:buAutoNum type="arabicPeriod"/>
            </a:pPr>
            <a:r>
              <a:rPr lang="en-IN" sz="1800" b="1" dirty="0"/>
              <a:t>What it shows</a:t>
            </a:r>
            <a:br>
              <a:rPr lang="en-IN" sz="1800" dirty="0"/>
            </a:br>
            <a:r>
              <a:rPr lang="en-IN" sz="1800" dirty="0"/>
              <a:t>Tracks annual IT ticket volume from 2016–2020.</a:t>
            </a:r>
          </a:p>
          <a:p>
            <a:pPr marL="514350" indent="-514350">
              <a:lnSpc>
                <a:spcPct val="150000"/>
              </a:lnSpc>
              <a:buFont typeface="+mj-lt"/>
              <a:buAutoNum type="arabicPeriod"/>
            </a:pPr>
            <a:r>
              <a:rPr lang="en-IN" sz="1800" b="1" dirty="0"/>
              <a:t>Insight</a:t>
            </a:r>
            <a:br>
              <a:rPr lang="en-IN" sz="1800" dirty="0"/>
            </a:br>
            <a:r>
              <a:rPr lang="en-IN" sz="1800" dirty="0"/>
              <a:t>Ticket volume increased from </a:t>
            </a:r>
            <a:r>
              <a:rPr lang="en-IN" sz="1800" b="1" dirty="0"/>
              <a:t>13,051 to 29,088</a:t>
            </a:r>
            <a:r>
              <a:rPr lang="en-IN" sz="1800" dirty="0"/>
              <a:t>, showing substantial growth in IT support demand.</a:t>
            </a:r>
          </a:p>
          <a:p>
            <a:pPr marL="514350" indent="-514350">
              <a:lnSpc>
                <a:spcPct val="150000"/>
              </a:lnSpc>
              <a:buFont typeface="+mj-lt"/>
              <a:buAutoNum type="arabicPeriod"/>
            </a:pPr>
            <a:r>
              <a:rPr lang="en-IN" sz="1800" b="1" dirty="0"/>
              <a:t>Recommendation</a:t>
            </a:r>
            <a:br>
              <a:rPr lang="en-IN" sz="1800" dirty="0"/>
            </a:br>
            <a:r>
              <a:rPr lang="en-IN" sz="1800" dirty="0"/>
              <a:t>Management should regularly evaluate </a:t>
            </a:r>
            <a:r>
              <a:rPr lang="en-IN" sz="1800" b="1" dirty="0"/>
              <a:t>support capacity, automation and staffing requirements</a:t>
            </a:r>
            <a:r>
              <a:rPr lang="en-IN" sz="1800" dirty="0"/>
              <a:t> as demand grows.</a:t>
            </a:r>
          </a:p>
        </p:txBody>
      </p:sp>
      <p:pic>
        <p:nvPicPr>
          <p:cNvPr id="5" name="Picture 4">
            <a:extLst>
              <a:ext uri="{FF2B5EF4-FFF2-40B4-BE49-F238E27FC236}">
                <a16:creationId xmlns:a16="http://schemas.microsoft.com/office/drawing/2014/main" id="{4DD6BF4A-B86C-F9A2-D0E0-56FE3D137257}"/>
              </a:ext>
            </a:extLst>
          </p:cNvPr>
          <p:cNvPicPr>
            <a:picLocks noChangeAspect="1"/>
          </p:cNvPicPr>
          <p:nvPr/>
        </p:nvPicPr>
        <p:blipFill>
          <a:blip r:embed="rId2"/>
          <a:srcRect l="1391" r="1231"/>
          <a:stretch>
            <a:fillRect/>
          </a:stretch>
        </p:blipFill>
        <p:spPr>
          <a:xfrm>
            <a:off x="716280" y="1646363"/>
            <a:ext cx="4861560" cy="37819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Rectangle 6">
            <a:extLst>
              <a:ext uri="{FF2B5EF4-FFF2-40B4-BE49-F238E27FC236}">
                <a16:creationId xmlns:a16="http://schemas.microsoft.com/office/drawing/2014/main" id="{F5807E73-15BE-1E93-B8F1-2C7F4A5D6555}"/>
              </a:ext>
            </a:extLst>
          </p:cNvPr>
          <p:cNvSpPr/>
          <p:nvPr/>
        </p:nvSpPr>
        <p:spPr>
          <a:xfrm>
            <a:off x="0" y="5997010"/>
            <a:ext cx="12192000" cy="1205457"/>
          </a:xfrm>
          <a:prstGeom prst="rect">
            <a:avLst/>
          </a:prstGeom>
          <a:solidFill>
            <a:schemeClr val="accent3">
              <a:lumMod val="5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32A6725-7EC0-EFED-E4BF-B6852D06A75C}"/>
              </a:ext>
            </a:extLst>
          </p:cNvPr>
          <p:cNvSpPr txBox="1"/>
          <p:nvPr/>
        </p:nvSpPr>
        <p:spPr>
          <a:xfrm>
            <a:off x="838200" y="6077228"/>
            <a:ext cx="10561320" cy="584775"/>
          </a:xfrm>
          <a:prstGeom prst="rect">
            <a:avLst/>
          </a:prstGeom>
          <a:noFill/>
        </p:spPr>
        <p:txBody>
          <a:bodyPr wrap="square" rtlCol="0">
            <a:spAutoFit/>
          </a:bodyPr>
          <a:lstStyle/>
          <a:p>
            <a:pPr algn="ctr"/>
            <a:r>
              <a:rPr lang="en-IN" sz="3200" b="1" i="1" dirty="0">
                <a:solidFill>
                  <a:schemeClr val="bg1"/>
                </a:solidFill>
              </a:rPr>
              <a:t>13,051 → 29,088         +123% approximately</a:t>
            </a:r>
          </a:p>
        </p:txBody>
      </p:sp>
    </p:spTree>
    <p:extLst>
      <p:ext uri="{BB962C8B-B14F-4D97-AF65-F5344CB8AC3E}">
        <p14:creationId xmlns:p14="http://schemas.microsoft.com/office/powerpoint/2010/main" val="3614101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EE68-BAEE-1258-3BF7-C728A7A81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4A257-FAC0-FADB-2900-A8B0699ECE93}"/>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WHAT DO EMPLOYEES THINK OF THE SERVICE?</a:t>
            </a:r>
          </a:p>
        </p:txBody>
      </p:sp>
    </p:spTree>
    <p:extLst>
      <p:ext uri="{BB962C8B-B14F-4D97-AF65-F5344CB8AC3E}">
        <p14:creationId xmlns:p14="http://schemas.microsoft.com/office/powerpoint/2010/main" val="2852059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8EDBB-AEE8-E4FD-8D9D-71106DFDF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E123F-B861-D291-BDD0-C0947041840B}"/>
              </a:ext>
            </a:extLst>
          </p:cNvPr>
          <p:cNvSpPr>
            <a:spLocks noGrp="1"/>
          </p:cNvSpPr>
          <p:nvPr>
            <p:ph type="title"/>
          </p:nvPr>
        </p:nvSpPr>
        <p:spPr>
          <a:xfrm>
            <a:off x="838200" y="582960"/>
            <a:ext cx="10515600" cy="1131672"/>
          </a:xfrm>
        </p:spPr>
        <p:txBody>
          <a:bodyPr>
            <a:normAutofit/>
          </a:bodyPr>
          <a:lstStyle/>
          <a:p>
            <a:pPr algn="ctr"/>
            <a:r>
              <a:rPr lang="en-IN" sz="4000" b="1" dirty="0"/>
              <a:t>Ticket Distribution by Satisfaction Score</a:t>
            </a:r>
          </a:p>
        </p:txBody>
      </p:sp>
      <p:sp>
        <p:nvSpPr>
          <p:cNvPr id="6" name="TextBox 5">
            <a:extLst>
              <a:ext uri="{FF2B5EF4-FFF2-40B4-BE49-F238E27FC236}">
                <a16:creationId xmlns:a16="http://schemas.microsoft.com/office/drawing/2014/main" id="{F48565F5-31E2-9F98-DACB-7550358D97D8}"/>
              </a:ext>
            </a:extLst>
          </p:cNvPr>
          <p:cNvSpPr txBox="1"/>
          <p:nvPr/>
        </p:nvSpPr>
        <p:spPr>
          <a:xfrm>
            <a:off x="6470074" y="1714632"/>
            <a:ext cx="5008417" cy="4241867"/>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Shows how tickets are distributed across satisfaction ratings from </a:t>
            </a:r>
            <a:r>
              <a:rPr lang="en-IN" sz="1600" b="1" dirty="0"/>
              <a:t>1 to 5</a:t>
            </a:r>
            <a:r>
              <a:rPr lang="en-IN" sz="1600" dirty="0"/>
              <a:t>.</a:t>
            </a:r>
          </a:p>
          <a:p>
            <a:pPr marL="342900" indent="-342900">
              <a:lnSpc>
                <a:spcPct val="150000"/>
              </a:lnSpc>
              <a:buFont typeface="+mj-lt"/>
              <a:buAutoNum type="arabicPeriod"/>
            </a:pPr>
            <a:r>
              <a:rPr lang="en-IN" sz="1600" b="1" dirty="0"/>
              <a:t>KEY INSIGHT</a:t>
            </a:r>
          </a:p>
          <a:p>
            <a:pPr lvl="1">
              <a:lnSpc>
                <a:spcPct val="150000"/>
              </a:lnSpc>
            </a:pPr>
            <a:r>
              <a:rPr lang="en-IN" sz="1600" dirty="0"/>
              <a:t>Approximately </a:t>
            </a:r>
            <a:r>
              <a:rPr lang="en-IN" sz="1600" b="1" dirty="0"/>
              <a:t>80.3% of tickets received ratings of 4 or 5</a:t>
            </a:r>
            <a:r>
              <a:rPr lang="en-IN" sz="1600" dirty="0"/>
              <a:t>, indicating strong overall satisfaction with IT support.</a:t>
            </a:r>
          </a:p>
          <a:p>
            <a:pPr marL="342900" indent="-342900">
              <a:lnSpc>
                <a:spcPct val="150000"/>
              </a:lnSpc>
              <a:buFont typeface="+mj-lt"/>
              <a:buAutoNum type="arabicPeriod"/>
            </a:pPr>
            <a:r>
              <a:rPr lang="en-IN" sz="1600" b="1" dirty="0"/>
              <a:t>RECOMMENDATION</a:t>
            </a:r>
          </a:p>
          <a:p>
            <a:pPr lvl="1">
              <a:lnSpc>
                <a:spcPct val="150000"/>
              </a:lnSpc>
            </a:pPr>
            <a:r>
              <a:rPr lang="en-IN" sz="1600" dirty="0"/>
              <a:t>Maintain the practices driving high satisfaction while analysing </a:t>
            </a:r>
            <a:r>
              <a:rPr lang="en-IN" sz="1600" b="1" dirty="0"/>
              <a:t>low-rated tickets</a:t>
            </a:r>
            <a:r>
              <a:rPr lang="en-IN" sz="1600" dirty="0"/>
              <a:t> to identify specific service failures.</a:t>
            </a:r>
          </a:p>
        </p:txBody>
      </p:sp>
      <p:pic>
        <p:nvPicPr>
          <p:cNvPr id="8" name="Content Placeholder 7">
            <a:extLst>
              <a:ext uri="{FF2B5EF4-FFF2-40B4-BE49-F238E27FC236}">
                <a16:creationId xmlns:a16="http://schemas.microsoft.com/office/drawing/2014/main" id="{3666AC4F-59E6-49AE-E6BD-66FEB44245C6}"/>
              </a:ext>
            </a:extLst>
          </p:cNvPr>
          <p:cNvPicPr>
            <a:picLocks noGrp="1" noChangeAspect="1"/>
          </p:cNvPicPr>
          <p:nvPr>
            <p:ph idx="1"/>
          </p:nvPr>
        </p:nvPicPr>
        <p:blipFill>
          <a:blip r:embed="rId2"/>
          <a:srcRect l="1174" t="1474"/>
          <a:stretch>
            <a:fillRect/>
          </a:stretch>
        </p:blipFill>
        <p:spPr>
          <a:xfrm>
            <a:off x="502919" y="1714632"/>
            <a:ext cx="5967155" cy="410913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175900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291A-64B2-B689-0D7A-898B8EC9F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D903B-F03C-497E-5303-BDCD083EAE7A}"/>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DOES AGENT DEMOGRAPHY MATTER?</a:t>
            </a:r>
          </a:p>
        </p:txBody>
      </p:sp>
    </p:spTree>
    <p:extLst>
      <p:ext uri="{BB962C8B-B14F-4D97-AF65-F5344CB8AC3E}">
        <p14:creationId xmlns:p14="http://schemas.microsoft.com/office/powerpoint/2010/main" val="3875618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96871-8034-AF90-5D25-8B4AA3C14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255F1-D423-51A5-1AF1-538E29F92527}"/>
              </a:ext>
            </a:extLst>
          </p:cNvPr>
          <p:cNvSpPr>
            <a:spLocks noGrp="1"/>
          </p:cNvSpPr>
          <p:nvPr>
            <p:ph type="title"/>
          </p:nvPr>
        </p:nvSpPr>
        <p:spPr>
          <a:xfrm>
            <a:off x="838200" y="253783"/>
            <a:ext cx="10515600" cy="1131672"/>
          </a:xfrm>
        </p:spPr>
        <p:txBody>
          <a:bodyPr>
            <a:normAutofit/>
          </a:bodyPr>
          <a:lstStyle/>
          <a:p>
            <a:pPr algn="ctr"/>
            <a:r>
              <a:rPr lang="en-IN" sz="4000" b="1" dirty="0"/>
              <a:t>Impact of Age on IT Agent Performance</a:t>
            </a:r>
          </a:p>
        </p:txBody>
      </p:sp>
      <p:sp>
        <p:nvSpPr>
          <p:cNvPr id="6" name="TextBox 5">
            <a:extLst>
              <a:ext uri="{FF2B5EF4-FFF2-40B4-BE49-F238E27FC236}">
                <a16:creationId xmlns:a16="http://schemas.microsoft.com/office/drawing/2014/main" id="{E815BCB8-0406-FFC4-8178-AD37AB607E4A}"/>
              </a:ext>
            </a:extLst>
          </p:cNvPr>
          <p:cNvSpPr txBox="1"/>
          <p:nvPr/>
        </p:nvSpPr>
        <p:spPr>
          <a:xfrm>
            <a:off x="6622474" y="1483679"/>
            <a:ext cx="5008417" cy="4611199"/>
          </a:xfrm>
          <a:prstGeom prst="rect">
            <a:avLst/>
          </a:prstGeom>
          <a:noFill/>
        </p:spPr>
        <p:txBody>
          <a:bodyPr wrap="square" rtlCol="0">
            <a:spAutoFit/>
          </a:bodyPr>
          <a:lstStyle/>
          <a:p>
            <a:pPr marL="342900" indent="-342900">
              <a:lnSpc>
                <a:spcPct val="150000"/>
              </a:lnSpc>
              <a:buFont typeface="+mj-lt"/>
              <a:buAutoNum type="arabicPeriod"/>
            </a:pPr>
            <a:r>
              <a:rPr lang="en-IN" sz="1600" b="1" dirty="0"/>
              <a:t>WHAT IT SHOWS</a:t>
            </a:r>
          </a:p>
          <a:p>
            <a:pPr lvl="1">
              <a:lnSpc>
                <a:spcPct val="150000"/>
              </a:lnSpc>
            </a:pPr>
            <a:r>
              <a:rPr lang="en-IN" sz="1600" dirty="0"/>
              <a:t>Compares </a:t>
            </a:r>
            <a:r>
              <a:rPr lang="en-IN" sz="1600" b="1" dirty="0"/>
              <a:t>average satisfaction rate and average resolution time</a:t>
            </a:r>
            <a:r>
              <a:rPr lang="en-IN" sz="1600" dirty="0"/>
              <a:t> across agent age groups..</a:t>
            </a:r>
          </a:p>
          <a:p>
            <a:pPr marL="342900" indent="-342900">
              <a:lnSpc>
                <a:spcPct val="150000"/>
              </a:lnSpc>
              <a:buFont typeface="+mj-lt"/>
              <a:buAutoNum type="arabicPeriod"/>
            </a:pPr>
            <a:r>
              <a:rPr lang="en-IN" sz="1600" b="1" dirty="0"/>
              <a:t>KEY INSIGHT</a:t>
            </a:r>
          </a:p>
          <a:p>
            <a:pPr lvl="1">
              <a:lnSpc>
                <a:spcPct val="150000"/>
              </a:lnSpc>
            </a:pPr>
            <a:r>
              <a:rPr lang="en-IN" sz="1600" dirty="0"/>
              <a:t>Performance varies slightly between age groups, but the pattern does not show a simple relationship between </a:t>
            </a:r>
            <a:r>
              <a:rPr lang="en-IN" sz="1600" b="1" dirty="0"/>
              <a:t>agent age and overall performance</a:t>
            </a:r>
            <a:r>
              <a:rPr lang="en-IN" sz="1600" dirty="0"/>
              <a:t>.</a:t>
            </a:r>
          </a:p>
          <a:p>
            <a:pPr marL="342900" indent="-342900">
              <a:lnSpc>
                <a:spcPct val="150000"/>
              </a:lnSpc>
              <a:buFont typeface="+mj-lt"/>
              <a:buAutoNum type="arabicPeriod"/>
            </a:pPr>
            <a:r>
              <a:rPr lang="en-IN" sz="1600" b="1" dirty="0"/>
              <a:t>RECOMMENDATION</a:t>
            </a:r>
          </a:p>
          <a:p>
            <a:pPr lvl="1">
              <a:lnSpc>
                <a:spcPct val="150000"/>
              </a:lnSpc>
            </a:pPr>
            <a:r>
              <a:rPr lang="en-IN" sz="1600" dirty="0"/>
              <a:t>Workforce decisions should be based on </a:t>
            </a:r>
            <a:r>
              <a:rPr lang="en-IN" sz="1600" b="1" dirty="0"/>
              <a:t>actual agent performance, workload and ticket complexity rather than age alone</a:t>
            </a:r>
            <a:r>
              <a:rPr lang="en-IN" sz="1600" dirty="0"/>
              <a:t>.</a:t>
            </a:r>
          </a:p>
        </p:txBody>
      </p:sp>
      <p:pic>
        <p:nvPicPr>
          <p:cNvPr id="7" name="Content Placeholder 6">
            <a:extLst>
              <a:ext uri="{FF2B5EF4-FFF2-40B4-BE49-F238E27FC236}">
                <a16:creationId xmlns:a16="http://schemas.microsoft.com/office/drawing/2014/main" id="{71B63A64-2587-1F21-9F9B-02407BE19126}"/>
              </a:ext>
            </a:extLst>
          </p:cNvPr>
          <p:cNvPicPr>
            <a:picLocks noGrp="1" noChangeAspect="1"/>
          </p:cNvPicPr>
          <p:nvPr>
            <p:ph idx="1"/>
          </p:nvPr>
        </p:nvPicPr>
        <p:blipFill>
          <a:blip r:embed="rId2"/>
          <a:srcRect l="337"/>
          <a:stretch>
            <a:fillRect/>
          </a:stretch>
        </p:blipFill>
        <p:spPr>
          <a:xfrm>
            <a:off x="350521" y="1668344"/>
            <a:ext cx="6271953" cy="42418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76178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10EC-18F0-25D6-8F31-1167C3843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79C1E-2561-D710-C0E2-6ADA966A8788}"/>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WHICH AGENTS ARE PERFORMING WELL?</a:t>
            </a:r>
          </a:p>
        </p:txBody>
      </p:sp>
    </p:spTree>
    <p:extLst>
      <p:ext uri="{BB962C8B-B14F-4D97-AF65-F5344CB8AC3E}">
        <p14:creationId xmlns:p14="http://schemas.microsoft.com/office/powerpoint/2010/main" val="440657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91640-304D-282F-E90B-2A9F5722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050CC-F0F2-7405-5E4A-B9658B13BB15}"/>
              </a:ext>
            </a:extLst>
          </p:cNvPr>
          <p:cNvSpPr>
            <a:spLocks noGrp="1"/>
          </p:cNvSpPr>
          <p:nvPr>
            <p:ph type="title"/>
          </p:nvPr>
        </p:nvSpPr>
        <p:spPr>
          <a:xfrm>
            <a:off x="952500" y="1023593"/>
            <a:ext cx="10515600" cy="1091681"/>
          </a:xfrm>
        </p:spPr>
        <p:txBody>
          <a:bodyPr>
            <a:normAutofit/>
          </a:bodyPr>
          <a:lstStyle/>
          <a:p>
            <a:pPr algn="ctr"/>
            <a:r>
              <a:rPr lang="en-IN" sz="4000" b="1" dirty="0"/>
              <a:t>IT Agent Performance Metrics</a:t>
            </a:r>
          </a:p>
        </p:txBody>
      </p:sp>
      <p:sp>
        <p:nvSpPr>
          <p:cNvPr id="3" name="Content Placeholder 2">
            <a:extLst>
              <a:ext uri="{FF2B5EF4-FFF2-40B4-BE49-F238E27FC236}">
                <a16:creationId xmlns:a16="http://schemas.microsoft.com/office/drawing/2014/main" id="{F01F7D94-3AE9-83FC-9AC0-EF66ACCA3913}"/>
              </a:ext>
            </a:extLst>
          </p:cNvPr>
          <p:cNvSpPr>
            <a:spLocks noGrp="1"/>
          </p:cNvSpPr>
          <p:nvPr>
            <p:ph idx="1"/>
          </p:nvPr>
        </p:nvSpPr>
        <p:spPr>
          <a:xfrm>
            <a:off x="2423160" y="2115274"/>
            <a:ext cx="7574280" cy="2627452"/>
          </a:xfrm>
        </p:spPr>
        <p:txBody>
          <a:bodyPr>
            <a:normAutofit/>
          </a:bodyPr>
          <a:lstStyle/>
          <a:p>
            <a:pPr marL="457200" indent="-457200">
              <a:lnSpc>
                <a:spcPct val="100000"/>
              </a:lnSpc>
              <a:buFont typeface="+mj-lt"/>
              <a:buAutoNum type="arabicPeriod"/>
            </a:pPr>
            <a:r>
              <a:rPr lang="en-IN" sz="1600" b="1" dirty="0"/>
              <a:t>WHAT IT SHOWS:</a:t>
            </a:r>
          </a:p>
          <a:p>
            <a:pPr marL="457200" lvl="1" indent="0">
              <a:lnSpc>
                <a:spcPct val="100000"/>
              </a:lnSpc>
              <a:buNone/>
            </a:pPr>
            <a:r>
              <a:rPr lang="en-IN" sz="1600" dirty="0"/>
              <a:t>Provides a multi-metric comparison of individual agents based on </a:t>
            </a:r>
            <a:r>
              <a:rPr lang="en-IN" sz="1600" b="1" dirty="0"/>
              <a:t>workload, resolution efficiency, satisfaction and ticket complexity</a:t>
            </a:r>
            <a:r>
              <a:rPr lang="en-IN" sz="1600" dirty="0"/>
              <a:t>.</a:t>
            </a:r>
          </a:p>
          <a:p>
            <a:pPr marL="457200" indent="-457200">
              <a:lnSpc>
                <a:spcPct val="100000"/>
              </a:lnSpc>
              <a:buFont typeface="+mj-lt"/>
              <a:buAutoNum type="arabicPeriod"/>
            </a:pPr>
            <a:r>
              <a:rPr lang="en-IN" sz="1600" b="1" dirty="0"/>
              <a:t>KEY INSIGHT</a:t>
            </a:r>
          </a:p>
          <a:p>
            <a:pPr marL="457200" lvl="1" indent="0">
              <a:lnSpc>
                <a:spcPct val="100000"/>
              </a:lnSpc>
              <a:buNone/>
            </a:pPr>
            <a:r>
              <a:rPr lang="en-IN" sz="1600" dirty="0"/>
              <a:t>Individual agents show different performance patterns, indicating that performance cannot be evaluated using </a:t>
            </a:r>
            <a:r>
              <a:rPr lang="en-IN" sz="1600" b="1" dirty="0"/>
              <a:t>ticket volume alone</a:t>
            </a:r>
            <a:r>
              <a:rPr lang="en-IN" sz="1600" dirty="0"/>
              <a:t>.</a:t>
            </a:r>
          </a:p>
          <a:p>
            <a:pPr marL="457200" indent="-457200">
              <a:lnSpc>
                <a:spcPct val="100000"/>
              </a:lnSpc>
              <a:buFont typeface="+mj-lt"/>
              <a:buAutoNum type="arabicPeriod"/>
            </a:pPr>
            <a:r>
              <a:rPr lang="en-IN" sz="1600" b="1" dirty="0"/>
              <a:t>RECOMMENDATION</a:t>
            </a:r>
          </a:p>
          <a:p>
            <a:pPr marL="457200" lvl="1" indent="0">
              <a:lnSpc>
                <a:spcPct val="100000"/>
              </a:lnSpc>
              <a:buNone/>
            </a:pPr>
            <a:r>
              <a:rPr lang="en-IN" sz="1600" dirty="0"/>
              <a:t>No immediate workforce reduction is supported by the analysis.</a:t>
            </a:r>
          </a:p>
        </p:txBody>
      </p:sp>
    </p:spTree>
    <p:extLst>
      <p:ext uri="{BB962C8B-B14F-4D97-AF65-F5344CB8AC3E}">
        <p14:creationId xmlns:p14="http://schemas.microsoft.com/office/powerpoint/2010/main" val="996708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7DED3C-1704-DEB8-C646-F4E74416126A}"/>
              </a:ext>
            </a:extLst>
          </p:cNvPr>
          <p:cNvPicPr>
            <a:picLocks noChangeAspect="1"/>
          </p:cNvPicPr>
          <p:nvPr/>
        </p:nvPicPr>
        <p:blipFill>
          <a:blip r:embed="rId2"/>
          <a:srcRect l="756" t="-239"/>
          <a:stretch>
            <a:fillRect/>
          </a:stretch>
        </p:blipFill>
        <p:spPr>
          <a:xfrm>
            <a:off x="784986" y="661581"/>
            <a:ext cx="10847205" cy="553483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76960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6C455-F1C6-C788-4E85-2DD1B4C5A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E4D49-91E1-81B5-F283-790A61F444FD}"/>
              </a:ext>
            </a:extLst>
          </p:cNvPr>
          <p:cNvSpPr>
            <a:spLocks noGrp="1"/>
          </p:cNvSpPr>
          <p:nvPr>
            <p:ph type="title"/>
          </p:nvPr>
        </p:nvSpPr>
        <p:spPr>
          <a:xfrm>
            <a:off x="838200" y="2318616"/>
            <a:ext cx="10515600" cy="1325563"/>
          </a:xfrm>
        </p:spPr>
        <p:txBody>
          <a:bodyPr/>
          <a:lstStyle/>
          <a:p>
            <a:pPr algn="ctr"/>
            <a:r>
              <a:rPr lang="en-IN" b="1" dirty="0">
                <a:solidFill>
                  <a:schemeClr val="accent3">
                    <a:lumMod val="50000"/>
                  </a:schemeClr>
                </a:solidFill>
              </a:rPr>
              <a:t>IT SUPPORT DASHBOARD</a:t>
            </a:r>
          </a:p>
        </p:txBody>
      </p:sp>
      <p:sp>
        <p:nvSpPr>
          <p:cNvPr id="3" name="TextBox 2">
            <a:extLst>
              <a:ext uri="{FF2B5EF4-FFF2-40B4-BE49-F238E27FC236}">
                <a16:creationId xmlns:a16="http://schemas.microsoft.com/office/drawing/2014/main" id="{5AAFAD08-4F3C-440A-5307-E05108DEF370}"/>
              </a:ext>
            </a:extLst>
          </p:cNvPr>
          <p:cNvSpPr txBox="1"/>
          <p:nvPr/>
        </p:nvSpPr>
        <p:spPr>
          <a:xfrm>
            <a:off x="1539240" y="3291840"/>
            <a:ext cx="9814560" cy="1384995"/>
          </a:xfrm>
          <a:prstGeom prst="rect">
            <a:avLst/>
          </a:prstGeom>
          <a:noFill/>
        </p:spPr>
        <p:txBody>
          <a:bodyPr wrap="square" rtlCol="0">
            <a:spAutoFit/>
          </a:bodyPr>
          <a:lstStyle/>
          <a:p>
            <a:pPr algn="ctr"/>
            <a:r>
              <a:rPr lang="en-IN" sz="2800" b="1" i="1" dirty="0">
                <a:solidFill>
                  <a:schemeClr val="accent4"/>
                </a:solidFill>
              </a:rPr>
              <a:t>Interactive Excel dashboard integrating KPIs, operational trends, ticket characteristics, resolution performance and agent-level analysis through dynamic slicers.</a:t>
            </a:r>
          </a:p>
        </p:txBody>
      </p:sp>
    </p:spTree>
    <p:extLst>
      <p:ext uri="{BB962C8B-B14F-4D97-AF65-F5344CB8AC3E}">
        <p14:creationId xmlns:p14="http://schemas.microsoft.com/office/powerpoint/2010/main" val="3371728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C60247-6C18-BD39-2AC4-31410B9A035A}"/>
              </a:ext>
            </a:extLst>
          </p:cNvPr>
          <p:cNvPicPr>
            <a:picLocks noChangeAspect="1"/>
          </p:cNvPicPr>
          <p:nvPr/>
        </p:nvPicPr>
        <p:blipFill>
          <a:blip r:embed="rId2"/>
          <a:stretch>
            <a:fillRect/>
          </a:stretch>
        </p:blipFill>
        <p:spPr>
          <a:xfrm>
            <a:off x="0" y="320040"/>
            <a:ext cx="12192000" cy="6217919"/>
          </a:xfrm>
          <a:prstGeom prst="rect">
            <a:avLst/>
          </a:prstGeom>
        </p:spPr>
      </p:pic>
    </p:spTree>
    <p:extLst>
      <p:ext uri="{BB962C8B-B14F-4D97-AF65-F5344CB8AC3E}">
        <p14:creationId xmlns:p14="http://schemas.microsoft.com/office/powerpoint/2010/main" val="1540010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hidden="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hidden="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326576-A4CB-BE2B-6F33-71821B2CD085}"/>
              </a:ext>
            </a:extLst>
          </p:cNvPr>
          <p:cNvSpPr>
            <a:spLocks noGrp="1"/>
          </p:cNvSpPr>
          <p:nvPr>
            <p:ph idx="1"/>
          </p:nvPr>
        </p:nvSpPr>
        <p:spPr>
          <a:xfrm>
            <a:off x="4447308" y="591344"/>
            <a:ext cx="6906491" cy="5585619"/>
          </a:xfrm>
        </p:spPr>
        <p:txBody>
          <a:bodyPr anchor="ctr">
            <a:normAutofit/>
          </a:bodyPr>
          <a:lstStyle/>
          <a:p>
            <a:pPr marL="0" indent="0">
              <a:buNone/>
            </a:pPr>
            <a:r>
              <a:rPr lang="en-IN" sz="2000" b="1" dirty="0"/>
              <a:t>01 — Demand is accelerating</a:t>
            </a:r>
          </a:p>
          <a:p>
            <a:pPr marL="0" indent="0">
              <a:buNone/>
            </a:pPr>
            <a:r>
              <a:rPr lang="en-IN" sz="2000" dirty="0"/>
              <a:t>	Ticket volume increased from </a:t>
            </a:r>
            <a:r>
              <a:rPr lang="en-IN" sz="2000" b="1" dirty="0"/>
              <a:t>13,051 → 29,088 annually</a:t>
            </a:r>
            <a:r>
              <a:rPr lang="en-IN" sz="2000" dirty="0"/>
              <a:t>.</a:t>
            </a:r>
          </a:p>
          <a:p>
            <a:pPr marL="0" indent="0">
              <a:buNone/>
            </a:pPr>
            <a:r>
              <a:rPr lang="en-IN" sz="2000" b="1" dirty="0"/>
              <a:t>02 — Satisfaction remains strong</a:t>
            </a:r>
          </a:p>
          <a:p>
            <a:pPr marL="0" indent="0">
              <a:buNone/>
            </a:pPr>
            <a:r>
              <a:rPr lang="en-IN" sz="2000" b="1" dirty="0"/>
              <a:t>	80.3%</a:t>
            </a:r>
            <a:r>
              <a:rPr lang="en-IN" sz="2000" dirty="0"/>
              <a:t> of tickets received satisfaction ratings of </a:t>
            </a:r>
            <a:r>
              <a:rPr lang="en-IN" sz="2000" b="1" dirty="0"/>
              <a:t>4–5</a:t>
            </a:r>
            <a:r>
              <a:rPr lang="en-IN" sz="2000" dirty="0"/>
              <a:t>.</a:t>
            </a:r>
          </a:p>
          <a:p>
            <a:pPr marL="0" indent="0">
              <a:buNone/>
            </a:pPr>
            <a:r>
              <a:rPr lang="en-IN" sz="2000" b="1" dirty="0"/>
              <a:t>03 — Hardware is the key resolution bottleneck</a:t>
            </a:r>
          </a:p>
          <a:p>
            <a:pPr marL="0" indent="0">
              <a:buNone/>
            </a:pPr>
            <a:r>
              <a:rPr lang="en-IN" sz="2000" dirty="0"/>
              <a:t>	Hardware consistently records the </a:t>
            </a:r>
            <a:r>
              <a:rPr lang="en-IN" sz="2000" b="1" dirty="0"/>
              <a:t>highest resolution time</a:t>
            </a:r>
            <a:r>
              <a:rPr lang="en-IN" sz="2000" dirty="0"/>
              <a:t>.</a:t>
            </a:r>
          </a:p>
          <a:p>
            <a:pPr marL="0" indent="0">
              <a:buNone/>
            </a:pPr>
            <a:r>
              <a:rPr lang="en-IN" sz="2000" b="1" dirty="0"/>
              <a:t>04 — Volume and difficulty are different problems</a:t>
            </a:r>
          </a:p>
          <a:p>
            <a:pPr marL="0" indent="0">
              <a:buNone/>
            </a:pPr>
            <a:r>
              <a:rPr lang="en-IN" sz="2000" dirty="0"/>
              <a:t>	System generates the most tickets, while Hardware takes the longest to resolve.</a:t>
            </a:r>
          </a:p>
          <a:p>
            <a:pPr marL="0" indent="0">
              <a:buNone/>
            </a:pPr>
            <a:r>
              <a:rPr lang="en-IN" sz="2000" b="1" dirty="0"/>
              <a:t>05 — Workforce reduction is not the immediate solution</a:t>
            </a:r>
          </a:p>
          <a:p>
            <a:pPr marL="0" indent="0">
              <a:buNone/>
            </a:pPr>
            <a:r>
              <a:rPr lang="en-IN" sz="2000" dirty="0"/>
              <a:t>	The data points toward </a:t>
            </a:r>
            <a:r>
              <a:rPr lang="en-IN" sz="2000" b="1" dirty="0"/>
              <a:t>process improvement, technology investment and targeted training</a:t>
            </a:r>
            <a:r>
              <a:rPr lang="en-IN" sz="2000" dirty="0"/>
              <a:t>.</a:t>
            </a:r>
          </a:p>
        </p:txBody>
      </p:sp>
      <p:sp>
        <p:nvSpPr>
          <p:cNvPr id="6" name="Oval 5">
            <a:extLst>
              <a:ext uri="{FF2B5EF4-FFF2-40B4-BE49-F238E27FC236}">
                <a16:creationId xmlns:a16="http://schemas.microsoft.com/office/drawing/2014/main" id="{F32DBE11-ADA1-824C-74B0-27810FA29AD4}"/>
              </a:ext>
            </a:extLst>
          </p:cNvPr>
          <p:cNvSpPr/>
          <p:nvPr/>
        </p:nvSpPr>
        <p:spPr>
          <a:xfrm>
            <a:off x="-4367646" y="-814467"/>
            <a:ext cx="8735292" cy="8397240"/>
          </a:xfrm>
          <a:prstGeom prst="ellipse">
            <a:avLst/>
          </a:prstGeom>
          <a:solidFill>
            <a:schemeClr val="accent3">
              <a:lumMod val="50000"/>
            </a:schemeClr>
          </a:solidFill>
          <a:ln w="57150">
            <a:solidFill>
              <a:srgbClr val="F59F26"/>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1" name="TextBox 10">
            <a:extLst>
              <a:ext uri="{FF2B5EF4-FFF2-40B4-BE49-F238E27FC236}">
                <a16:creationId xmlns:a16="http://schemas.microsoft.com/office/drawing/2014/main" id="{903DFA10-C9B6-4ED0-D510-4C1FE0A130EF}"/>
              </a:ext>
            </a:extLst>
          </p:cNvPr>
          <p:cNvSpPr txBox="1"/>
          <p:nvPr/>
        </p:nvSpPr>
        <p:spPr>
          <a:xfrm>
            <a:off x="324543" y="2226879"/>
            <a:ext cx="3124200" cy="1754326"/>
          </a:xfrm>
          <a:prstGeom prst="rect">
            <a:avLst/>
          </a:prstGeom>
          <a:noFill/>
        </p:spPr>
        <p:txBody>
          <a:bodyPr wrap="square" rtlCol="0">
            <a:spAutoFit/>
          </a:bodyPr>
          <a:lstStyle/>
          <a:p>
            <a:pPr algn="ctr"/>
            <a:r>
              <a:rPr lang="en-IN" sz="5400" b="1" dirty="0">
                <a:solidFill>
                  <a:srgbClr val="F59F26"/>
                </a:solidFill>
                <a:latin typeface="+mj-lt"/>
              </a:rPr>
              <a:t>Key Findings</a:t>
            </a:r>
          </a:p>
        </p:txBody>
      </p:sp>
    </p:spTree>
    <p:extLst>
      <p:ext uri="{BB962C8B-B14F-4D97-AF65-F5344CB8AC3E}">
        <p14:creationId xmlns:p14="http://schemas.microsoft.com/office/powerpoint/2010/main" val="3947619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D283D6-7419-3099-7757-D14F2FAFDF86}"/>
              </a:ext>
            </a:extLst>
          </p:cNvPr>
          <p:cNvSpPr/>
          <p:nvPr/>
        </p:nvSpPr>
        <p:spPr>
          <a:xfrm>
            <a:off x="0" y="0"/>
            <a:ext cx="12192000" cy="1234440"/>
          </a:xfrm>
          <a:prstGeom prst="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CF41B32-74C6-DCA3-B294-85352A93D1E7}"/>
              </a:ext>
            </a:extLst>
          </p:cNvPr>
          <p:cNvSpPr>
            <a:spLocks noGrp="1"/>
          </p:cNvSpPr>
          <p:nvPr>
            <p:ph type="title"/>
          </p:nvPr>
        </p:nvSpPr>
        <p:spPr>
          <a:xfrm>
            <a:off x="838200" y="273686"/>
            <a:ext cx="10515600" cy="1234440"/>
          </a:xfrm>
        </p:spPr>
        <p:txBody>
          <a:bodyPr>
            <a:normAutofit/>
          </a:bodyPr>
          <a:lstStyle/>
          <a:p>
            <a:r>
              <a:rPr lang="en-IN" sz="4000" b="1" dirty="0">
                <a:solidFill>
                  <a:schemeClr val="bg1"/>
                </a:solidFill>
              </a:rPr>
              <a:t>Recommendations</a:t>
            </a:r>
          </a:p>
        </p:txBody>
      </p:sp>
      <p:sp>
        <p:nvSpPr>
          <p:cNvPr id="3" name="Content Placeholder 2">
            <a:extLst>
              <a:ext uri="{FF2B5EF4-FFF2-40B4-BE49-F238E27FC236}">
                <a16:creationId xmlns:a16="http://schemas.microsoft.com/office/drawing/2014/main" id="{1AC80465-FD43-C913-8CB3-3582F48F90B1}"/>
              </a:ext>
            </a:extLst>
          </p:cNvPr>
          <p:cNvSpPr>
            <a:spLocks noGrp="1"/>
          </p:cNvSpPr>
          <p:nvPr>
            <p:ph idx="1"/>
          </p:nvPr>
        </p:nvSpPr>
        <p:spPr>
          <a:xfrm>
            <a:off x="838200" y="1402080"/>
            <a:ext cx="10515600" cy="4774883"/>
          </a:xfrm>
        </p:spPr>
        <p:txBody>
          <a:bodyPr>
            <a:normAutofit fontScale="77500" lnSpcReduction="20000"/>
          </a:bodyPr>
          <a:lstStyle/>
          <a:p>
            <a:pPr marL="0" indent="0">
              <a:buNone/>
            </a:pPr>
            <a:r>
              <a:rPr lang="en-IN" b="1" dirty="0"/>
              <a:t>⚙️ 01 — Process Improvement</a:t>
            </a:r>
          </a:p>
          <a:p>
            <a:pPr marL="0" indent="0">
              <a:buNone/>
            </a:pPr>
            <a:r>
              <a:rPr lang="en-IN" dirty="0"/>
              <a:t>	Improve Hardware and System troubleshooting, escalation and resolution workflows.</a:t>
            </a:r>
            <a:br>
              <a:rPr lang="en-IN" dirty="0"/>
            </a:br>
            <a:endParaRPr lang="en-IN" dirty="0"/>
          </a:p>
          <a:p>
            <a:pPr marL="0" indent="0">
              <a:buNone/>
            </a:pPr>
            <a:r>
              <a:rPr lang="en-IN" b="1" dirty="0"/>
              <a:t>💻 02 — Automation &amp; Self-Service</a:t>
            </a:r>
          </a:p>
          <a:p>
            <a:pPr marL="0" indent="0">
              <a:buNone/>
            </a:pPr>
            <a:r>
              <a:rPr lang="en-IN" dirty="0"/>
              <a:t>	Automate repetitive </a:t>
            </a:r>
            <a:r>
              <a:rPr lang="en-IN" b="1" dirty="0"/>
              <a:t>System, Login Access and routine IT Request</a:t>
            </a:r>
            <a:r>
              <a:rPr lang="en-IN" dirty="0"/>
              <a:t> activities.</a:t>
            </a:r>
            <a:br>
              <a:rPr lang="en-IN" dirty="0"/>
            </a:br>
            <a:endParaRPr lang="en-IN" dirty="0"/>
          </a:p>
          <a:p>
            <a:pPr marL="0" indent="0">
              <a:buNone/>
            </a:pPr>
            <a:r>
              <a:rPr lang="en-IN" b="1" dirty="0"/>
              <a:t>👥 03 — Agent Development</a:t>
            </a:r>
          </a:p>
          <a:p>
            <a:pPr marL="0" indent="0">
              <a:buNone/>
            </a:pPr>
            <a:r>
              <a:rPr lang="en-IN" dirty="0"/>
              <a:t>	Use multi-KPI agent performance data for </a:t>
            </a:r>
            <a:r>
              <a:rPr lang="en-IN" b="1" dirty="0"/>
              <a:t>targeted training, coaching and workload balancing</a:t>
            </a:r>
            <a:r>
              <a:rPr lang="en-IN" dirty="0"/>
              <a:t>.</a:t>
            </a:r>
            <a:br>
              <a:rPr lang="en-IN" dirty="0"/>
            </a:br>
            <a:endParaRPr lang="en-IN" dirty="0"/>
          </a:p>
          <a:p>
            <a:pPr marL="0" indent="0">
              <a:buNone/>
            </a:pPr>
            <a:r>
              <a:rPr lang="en-IN" b="1" dirty="0"/>
              <a:t>📈 04 — Capacity Planning</a:t>
            </a:r>
          </a:p>
          <a:p>
            <a:pPr marL="0" indent="0">
              <a:buNone/>
            </a:pPr>
            <a:r>
              <a:rPr lang="en-IN" dirty="0"/>
              <a:t>	Monitor growing ticket volumes against agent capacity and prepare for future staffing or automation needs.</a:t>
            </a:r>
          </a:p>
        </p:txBody>
      </p:sp>
    </p:spTree>
    <p:extLst>
      <p:ext uri="{BB962C8B-B14F-4D97-AF65-F5344CB8AC3E}">
        <p14:creationId xmlns:p14="http://schemas.microsoft.com/office/powerpoint/2010/main" val="1502163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A887C-D53E-6B2F-C0ED-3D5EBF5C6595}"/>
              </a:ext>
            </a:extLst>
          </p:cNvPr>
          <p:cNvSpPr>
            <a:spLocks noGrp="1"/>
          </p:cNvSpPr>
          <p:nvPr>
            <p:ph type="title"/>
          </p:nvPr>
        </p:nvSpPr>
        <p:spPr>
          <a:xfrm>
            <a:off x="838200" y="309707"/>
            <a:ext cx="10515600" cy="1325563"/>
          </a:xfrm>
        </p:spPr>
        <p:txBody>
          <a:bodyPr/>
          <a:lstStyle/>
          <a:p>
            <a:pPr algn="ctr"/>
            <a:r>
              <a:rPr lang="en-IN" b="1" dirty="0"/>
              <a:t>CONCLUSION</a:t>
            </a:r>
          </a:p>
        </p:txBody>
      </p:sp>
      <p:sp>
        <p:nvSpPr>
          <p:cNvPr id="5" name="Rectangle: Rounded Corners 4">
            <a:extLst>
              <a:ext uri="{FF2B5EF4-FFF2-40B4-BE49-F238E27FC236}">
                <a16:creationId xmlns:a16="http://schemas.microsoft.com/office/drawing/2014/main" id="{C3B98C1C-9A91-8EA7-BB81-F34DB93FE046}"/>
              </a:ext>
            </a:extLst>
          </p:cNvPr>
          <p:cNvSpPr/>
          <p:nvPr/>
        </p:nvSpPr>
        <p:spPr>
          <a:xfrm>
            <a:off x="630378" y="1392595"/>
            <a:ext cx="2445328" cy="3712585"/>
          </a:xfrm>
          <a:prstGeom prst="roundRect">
            <a:avLst/>
          </a:prstGeom>
          <a:solidFill>
            <a:schemeClr val="accent3">
              <a:lumMod val="50000"/>
            </a:schemeClr>
          </a:solidFill>
          <a:ln>
            <a:solidFill>
              <a:srgbClr val="F59F2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A5A1D95E-FCA3-C355-F7CF-D4CBA6CF8930}"/>
              </a:ext>
            </a:extLst>
          </p:cNvPr>
          <p:cNvSpPr/>
          <p:nvPr/>
        </p:nvSpPr>
        <p:spPr>
          <a:xfrm>
            <a:off x="3311233" y="1392594"/>
            <a:ext cx="2445328" cy="3712585"/>
          </a:xfrm>
          <a:prstGeom prst="roundRect">
            <a:avLst/>
          </a:prstGeom>
          <a:solidFill>
            <a:schemeClr val="accent3">
              <a:lumMod val="50000"/>
            </a:schemeClr>
          </a:solidFill>
          <a:ln>
            <a:solidFill>
              <a:srgbClr val="F59F2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42E9A615-A5BC-0BE3-2E16-C3FAE1236EB0}"/>
              </a:ext>
            </a:extLst>
          </p:cNvPr>
          <p:cNvSpPr/>
          <p:nvPr/>
        </p:nvSpPr>
        <p:spPr>
          <a:xfrm>
            <a:off x="5992088" y="1392594"/>
            <a:ext cx="2445328" cy="3712585"/>
          </a:xfrm>
          <a:prstGeom prst="roundRect">
            <a:avLst/>
          </a:prstGeom>
          <a:solidFill>
            <a:schemeClr val="accent3">
              <a:lumMod val="50000"/>
            </a:schemeClr>
          </a:solidFill>
          <a:ln>
            <a:solidFill>
              <a:srgbClr val="F59F2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76187CBD-64F1-432E-07E4-CE1FDB99EFEE}"/>
              </a:ext>
            </a:extLst>
          </p:cNvPr>
          <p:cNvSpPr/>
          <p:nvPr/>
        </p:nvSpPr>
        <p:spPr>
          <a:xfrm>
            <a:off x="8645238" y="1392593"/>
            <a:ext cx="2445328" cy="3712585"/>
          </a:xfrm>
          <a:prstGeom prst="roundRect">
            <a:avLst/>
          </a:prstGeom>
          <a:solidFill>
            <a:schemeClr val="accent3">
              <a:lumMod val="50000"/>
            </a:schemeClr>
          </a:solidFill>
          <a:ln>
            <a:solidFill>
              <a:srgbClr val="F59F2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1B428FE4-3370-0CB1-4811-26474C593775}"/>
              </a:ext>
            </a:extLst>
          </p:cNvPr>
          <p:cNvSpPr txBox="1"/>
          <p:nvPr/>
        </p:nvSpPr>
        <p:spPr>
          <a:xfrm>
            <a:off x="893614" y="1786946"/>
            <a:ext cx="1918855" cy="2923877"/>
          </a:xfrm>
          <a:prstGeom prst="rect">
            <a:avLst/>
          </a:prstGeom>
          <a:noFill/>
        </p:spPr>
        <p:txBody>
          <a:bodyPr wrap="square" rtlCol="0">
            <a:spAutoFit/>
          </a:bodyPr>
          <a:lstStyle/>
          <a:p>
            <a:pPr algn="ctr"/>
            <a:r>
              <a:rPr lang="en-IN" b="1" dirty="0">
                <a:solidFill>
                  <a:schemeClr val="bg1"/>
                </a:solidFill>
              </a:rPr>
              <a:t>📈 </a:t>
            </a:r>
          </a:p>
          <a:p>
            <a:pPr algn="ctr"/>
            <a:endParaRPr lang="en-IN" b="1" dirty="0">
              <a:solidFill>
                <a:schemeClr val="bg1"/>
              </a:solidFill>
            </a:endParaRPr>
          </a:p>
          <a:p>
            <a:pPr algn="ctr"/>
            <a:r>
              <a:rPr lang="en-IN" b="1" dirty="0">
                <a:solidFill>
                  <a:schemeClr val="bg1"/>
                </a:solidFill>
              </a:rPr>
              <a:t>Growing Demand</a:t>
            </a:r>
          </a:p>
          <a:p>
            <a:pPr algn="ctr"/>
            <a:br>
              <a:rPr lang="en-IN" dirty="0">
                <a:solidFill>
                  <a:schemeClr val="bg1"/>
                </a:solidFill>
              </a:rPr>
            </a:br>
            <a:r>
              <a:rPr lang="en-IN" sz="1600" dirty="0">
                <a:solidFill>
                  <a:schemeClr val="bg1"/>
                </a:solidFill>
              </a:rPr>
              <a:t>IT support demand has more than doubled from </a:t>
            </a:r>
            <a:r>
              <a:rPr lang="en-IN" sz="1600" b="1" dirty="0">
                <a:solidFill>
                  <a:schemeClr val="bg1"/>
                </a:solidFill>
              </a:rPr>
              <a:t>2016 to 2020</a:t>
            </a:r>
            <a:r>
              <a:rPr lang="en-IN" sz="1600" dirty="0">
                <a:solidFill>
                  <a:schemeClr val="bg1"/>
                </a:solidFill>
              </a:rPr>
              <a:t>, indicating increasing pressure on support operations.</a:t>
            </a:r>
          </a:p>
        </p:txBody>
      </p:sp>
      <p:sp>
        <p:nvSpPr>
          <p:cNvPr id="21" name="TextBox 20">
            <a:extLst>
              <a:ext uri="{FF2B5EF4-FFF2-40B4-BE49-F238E27FC236}">
                <a16:creationId xmlns:a16="http://schemas.microsoft.com/office/drawing/2014/main" id="{E3F92967-ACE1-82A1-5FE5-3D701D0BCCD6}"/>
              </a:ext>
            </a:extLst>
          </p:cNvPr>
          <p:cNvSpPr txBox="1"/>
          <p:nvPr/>
        </p:nvSpPr>
        <p:spPr>
          <a:xfrm>
            <a:off x="3512126" y="1786946"/>
            <a:ext cx="2071248" cy="2985433"/>
          </a:xfrm>
          <a:prstGeom prst="rect">
            <a:avLst/>
          </a:prstGeom>
          <a:noFill/>
        </p:spPr>
        <p:txBody>
          <a:bodyPr wrap="square" rtlCol="0">
            <a:spAutoFit/>
          </a:bodyPr>
          <a:lstStyle/>
          <a:p>
            <a:pPr algn="ctr"/>
            <a:r>
              <a:rPr lang="en-IN" b="1" dirty="0">
                <a:solidFill>
                  <a:schemeClr val="bg1"/>
                </a:solidFill>
              </a:rPr>
              <a:t>⭐ </a:t>
            </a:r>
          </a:p>
          <a:p>
            <a:pPr algn="ctr"/>
            <a:endParaRPr lang="en-IN" b="1" dirty="0">
              <a:solidFill>
                <a:schemeClr val="bg1"/>
              </a:solidFill>
            </a:endParaRPr>
          </a:p>
          <a:p>
            <a:pPr algn="ctr"/>
            <a:r>
              <a:rPr lang="en-IN" b="1" dirty="0">
                <a:solidFill>
                  <a:schemeClr val="bg1"/>
                </a:solidFill>
              </a:rPr>
              <a:t>Strong Service Quality</a:t>
            </a:r>
          </a:p>
          <a:p>
            <a:pPr algn="ctr"/>
            <a:br>
              <a:rPr lang="en-IN" dirty="0">
                <a:solidFill>
                  <a:schemeClr val="bg1"/>
                </a:solidFill>
              </a:rPr>
            </a:br>
            <a:r>
              <a:rPr lang="en-IN" sz="1600" dirty="0">
                <a:solidFill>
                  <a:schemeClr val="bg1"/>
                </a:solidFill>
              </a:rPr>
              <a:t>Despite increasing ticket volumes, overall satisfaction remains strong at </a:t>
            </a:r>
            <a:r>
              <a:rPr lang="en-IN" sz="1600" b="1" dirty="0">
                <a:solidFill>
                  <a:schemeClr val="bg1"/>
                </a:solidFill>
              </a:rPr>
              <a:t>4.1/5</a:t>
            </a:r>
            <a:r>
              <a:rPr lang="en-IN" sz="1600" dirty="0">
                <a:solidFill>
                  <a:schemeClr val="bg1"/>
                </a:solidFill>
              </a:rPr>
              <a:t>, with </a:t>
            </a:r>
            <a:r>
              <a:rPr lang="en-IN" sz="1600" b="1" dirty="0">
                <a:solidFill>
                  <a:schemeClr val="bg1"/>
                </a:solidFill>
              </a:rPr>
              <a:t>80.3% of tickets rated 4 or 5</a:t>
            </a:r>
            <a:r>
              <a:rPr lang="en-IN" dirty="0">
                <a:solidFill>
                  <a:schemeClr val="bg1"/>
                </a:solidFill>
              </a:rPr>
              <a:t>.</a:t>
            </a:r>
          </a:p>
        </p:txBody>
      </p:sp>
      <p:sp>
        <p:nvSpPr>
          <p:cNvPr id="22" name="TextBox 21">
            <a:extLst>
              <a:ext uri="{FF2B5EF4-FFF2-40B4-BE49-F238E27FC236}">
                <a16:creationId xmlns:a16="http://schemas.microsoft.com/office/drawing/2014/main" id="{5B76EA68-0A65-7BB1-4150-F7C2A3E6F950}"/>
              </a:ext>
            </a:extLst>
          </p:cNvPr>
          <p:cNvSpPr txBox="1"/>
          <p:nvPr/>
        </p:nvSpPr>
        <p:spPr>
          <a:xfrm>
            <a:off x="6096000" y="1786946"/>
            <a:ext cx="2286001" cy="2923877"/>
          </a:xfrm>
          <a:prstGeom prst="rect">
            <a:avLst/>
          </a:prstGeom>
          <a:noFill/>
        </p:spPr>
        <p:txBody>
          <a:bodyPr wrap="square" rtlCol="0">
            <a:spAutoFit/>
          </a:bodyPr>
          <a:lstStyle/>
          <a:p>
            <a:pPr algn="ctr"/>
            <a:r>
              <a:rPr lang="en-IN" b="1" dirty="0">
                <a:solidFill>
                  <a:schemeClr val="bg1"/>
                </a:solidFill>
              </a:rPr>
              <a:t>⏱ </a:t>
            </a:r>
          </a:p>
          <a:p>
            <a:pPr algn="ctr"/>
            <a:endParaRPr lang="en-IN" b="1" dirty="0">
              <a:solidFill>
                <a:schemeClr val="bg1"/>
              </a:solidFill>
            </a:endParaRPr>
          </a:p>
          <a:p>
            <a:pPr algn="ctr"/>
            <a:r>
              <a:rPr lang="en-IN" b="1" dirty="0">
                <a:solidFill>
                  <a:schemeClr val="bg1"/>
                </a:solidFill>
              </a:rPr>
              <a:t>Key Bottleneck</a:t>
            </a:r>
          </a:p>
          <a:p>
            <a:pPr algn="ctr"/>
            <a:br>
              <a:rPr lang="en-IN" dirty="0">
                <a:solidFill>
                  <a:schemeClr val="bg1"/>
                </a:solidFill>
              </a:rPr>
            </a:br>
            <a:r>
              <a:rPr lang="en-IN" sz="1600" b="1" dirty="0">
                <a:solidFill>
                  <a:schemeClr val="bg1"/>
                </a:solidFill>
              </a:rPr>
              <a:t>Hardware remains the most persistent resolution bottleneck</a:t>
            </a:r>
            <a:r>
              <a:rPr lang="en-IN" sz="1600" dirty="0">
                <a:solidFill>
                  <a:schemeClr val="bg1"/>
                </a:solidFill>
              </a:rPr>
              <a:t>, while System and Login Access contribute significantly to overall ticket demand.</a:t>
            </a:r>
          </a:p>
        </p:txBody>
      </p:sp>
      <p:sp>
        <p:nvSpPr>
          <p:cNvPr id="23" name="TextBox 22">
            <a:extLst>
              <a:ext uri="{FF2B5EF4-FFF2-40B4-BE49-F238E27FC236}">
                <a16:creationId xmlns:a16="http://schemas.microsoft.com/office/drawing/2014/main" id="{71C1E0FD-BA10-1802-CAF4-6B9D7751A4B7}"/>
              </a:ext>
            </a:extLst>
          </p:cNvPr>
          <p:cNvSpPr txBox="1"/>
          <p:nvPr/>
        </p:nvSpPr>
        <p:spPr>
          <a:xfrm>
            <a:off x="8672943" y="1786945"/>
            <a:ext cx="2417623" cy="2923877"/>
          </a:xfrm>
          <a:prstGeom prst="rect">
            <a:avLst/>
          </a:prstGeom>
          <a:noFill/>
        </p:spPr>
        <p:txBody>
          <a:bodyPr wrap="square" rtlCol="0">
            <a:spAutoFit/>
          </a:bodyPr>
          <a:lstStyle/>
          <a:p>
            <a:pPr algn="ctr"/>
            <a:r>
              <a:rPr lang="en-IN" b="1" dirty="0">
                <a:solidFill>
                  <a:schemeClr val="bg1"/>
                </a:solidFill>
              </a:rPr>
              <a:t>🎯</a:t>
            </a:r>
          </a:p>
          <a:p>
            <a:pPr algn="ctr"/>
            <a:endParaRPr lang="en-IN" b="1" dirty="0">
              <a:solidFill>
                <a:schemeClr val="bg1"/>
              </a:solidFill>
            </a:endParaRPr>
          </a:p>
          <a:p>
            <a:pPr algn="ctr"/>
            <a:r>
              <a:rPr lang="en-IN" b="1" dirty="0">
                <a:solidFill>
                  <a:schemeClr val="bg1"/>
                </a:solidFill>
              </a:rPr>
              <a:t> Investment Direction</a:t>
            </a:r>
          </a:p>
          <a:p>
            <a:pPr algn="ctr"/>
            <a:br>
              <a:rPr lang="en-IN" dirty="0">
                <a:solidFill>
                  <a:schemeClr val="bg1"/>
                </a:solidFill>
              </a:rPr>
            </a:br>
            <a:r>
              <a:rPr lang="en-IN" sz="1600" dirty="0">
                <a:solidFill>
                  <a:schemeClr val="bg1"/>
                </a:solidFill>
              </a:rPr>
              <a:t>The analysis supports prioritizing </a:t>
            </a:r>
            <a:r>
              <a:rPr lang="en-IN" sz="1600" b="1" dirty="0">
                <a:solidFill>
                  <a:schemeClr val="bg1"/>
                </a:solidFill>
              </a:rPr>
              <a:t>process improvement, automation and targeted agent development</a:t>
            </a:r>
            <a:r>
              <a:rPr lang="en-IN" sz="1600" dirty="0">
                <a:solidFill>
                  <a:schemeClr val="bg1"/>
                </a:solidFill>
              </a:rPr>
              <a:t> before considering major workforce changes.</a:t>
            </a:r>
          </a:p>
        </p:txBody>
      </p:sp>
      <p:sp>
        <p:nvSpPr>
          <p:cNvPr id="24" name="Rectangle 23">
            <a:extLst>
              <a:ext uri="{FF2B5EF4-FFF2-40B4-BE49-F238E27FC236}">
                <a16:creationId xmlns:a16="http://schemas.microsoft.com/office/drawing/2014/main" id="{346C7C43-5625-35B4-E09E-3E0545952FB4}"/>
              </a:ext>
            </a:extLst>
          </p:cNvPr>
          <p:cNvSpPr/>
          <p:nvPr/>
        </p:nvSpPr>
        <p:spPr>
          <a:xfrm>
            <a:off x="1" y="5403271"/>
            <a:ext cx="12192000" cy="1454727"/>
          </a:xfrm>
          <a:prstGeom prst="rect">
            <a:avLst/>
          </a:prstGeom>
          <a:solidFill>
            <a:srgbClr val="F59F2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8759F0BB-991D-0BAD-6757-36696000595B}"/>
              </a:ext>
            </a:extLst>
          </p:cNvPr>
          <p:cNvSpPr txBox="1"/>
          <p:nvPr/>
        </p:nvSpPr>
        <p:spPr>
          <a:xfrm>
            <a:off x="706578" y="5594186"/>
            <a:ext cx="10647222" cy="954107"/>
          </a:xfrm>
          <a:prstGeom prst="rect">
            <a:avLst/>
          </a:prstGeom>
          <a:noFill/>
        </p:spPr>
        <p:txBody>
          <a:bodyPr wrap="square" rtlCol="0">
            <a:spAutoFit/>
          </a:bodyPr>
          <a:lstStyle/>
          <a:p>
            <a:pPr algn="ctr"/>
            <a:r>
              <a:rPr lang="en-IN" sz="2800" b="1" i="1" dirty="0">
                <a:solidFill>
                  <a:schemeClr val="accent3">
                    <a:lumMod val="50000"/>
                  </a:schemeClr>
                </a:solidFill>
              </a:rPr>
              <a:t>Optimize processes → Automate repetitive work → Train strategically → Scale capacity as demand grows</a:t>
            </a:r>
          </a:p>
        </p:txBody>
      </p:sp>
    </p:spTree>
    <p:extLst>
      <p:ext uri="{BB962C8B-B14F-4D97-AF65-F5344CB8AC3E}">
        <p14:creationId xmlns:p14="http://schemas.microsoft.com/office/powerpoint/2010/main" val="3041125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
        <p:nvSpPr>
          <p:cNvPr id="2" name="TextBox 1">
            <a:extLst>
              <a:ext uri="{FF2B5EF4-FFF2-40B4-BE49-F238E27FC236}">
                <a16:creationId xmlns:a16="http://schemas.microsoft.com/office/drawing/2014/main" id="{7FEB2E34-53CE-3038-AC55-91A2AE22F042}"/>
              </a:ext>
            </a:extLst>
          </p:cNvPr>
          <p:cNvSpPr txBox="1"/>
          <p:nvPr/>
        </p:nvSpPr>
        <p:spPr>
          <a:xfrm>
            <a:off x="1912775" y="5548929"/>
            <a:ext cx="9041364" cy="923330"/>
          </a:xfrm>
          <a:prstGeom prst="rect">
            <a:avLst/>
          </a:prstGeom>
          <a:noFill/>
        </p:spPr>
        <p:txBody>
          <a:bodyPr wrap="square" rtlCol="0">
            <a:spAutoFit/>
          </a:bodyPr>
          <a:lstStyle/>
          <a:p>
            <a:pPr algn="ctr"/>
            <a:r>
              <a:rPr lang="en-IN" b="1" dirty="0">
                <a:solidFill>
                  <a:schemeClr val="bg1"/>
                </a:solidFill>
              </a:rPr>
              <a:t>Tools Used: Microsoft Excel</a:t>
            </a:r>
            <a:br>
              <a:rPr lang="en-IN" b="1" dirty="0">
                <a:solidFill>
                  <a:schemeClr val="bg1"/>
                </a:solidFill>
              </a:rPr>
            </a:br>
            <a:r>
              <a:rPr lang="en-IN" b="1" dirty="0">
                <a:solidFill>
                  <a:schemeClr val="bg1"/>
                </a:solidFill>
              </a:rPr>
              <a:t>Analysis: PivotTables, </a:t>
            </a:r>
            <a:r>
              <a:rPr lang="en-IN" b="1" dirty="0" err="1">
                <a:solidFill>
                  <a:schemeClr val="bg1"/>
                </a:solidFill>
              </a:rPr>
              <a:t>PivotCharts</a:t>
            </a:r>
            <a:r>
              <a:rPr lang="en-IN" b="1" dirty="0">
                <a:solidFill>
                  <a:schemeClr val="bg1"/>
                </a:solidFill>
              </a:rPr>
              <a:t>, Excel formulas, trend analysis &amp; interactive dashboarding</a:t>
            </a:r>
            <a:br>
              <a:rPr lang="en-IN" b="1" dirty="0">
                <a:solidFill>
                  <a:schemeClr val="bg1"/>
                </a:solidFill>
              </a:rPr>
            </a:br>
            <a:r>
              <a:rPr lang="en-IN" b="1" dirty="0">
                <a:solidFill>
                  <a:schemeClr val="bg1"/>
                </a:solidFill>
              </a:rPr>
              <a:t>Dataset: IT Support Ticket Project Dataset</a:t>
            </a: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1097</TotalTime>
  <Words>1537</Words>
  <Application>Microsoft Office PowerPoint</Application>
  <PresentationFormat>Widescreen</PresentationFormat>
  <Paragraphs>213</Paragraphs>
  <Slides>33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Century Gothic</vt:lpstr>
      <vt:lpstr>Segoe UI</vt:lpstr>
      <vt:lpstr>Segoe UI Light</vt:lpstr>
      <vt:lpstr>Office Theme</vt:lpstr>
      <vt:lpstr>IT TICKETS ANALYSIS Analyzing Ticket Operations, Agent Performance &amp; Investment Opportunities</vt:lpstr>
      <vt:lpstr>The Business Challenge— Problem Statement</vt:lpstr>
      <vt:lpstr>How can the organization manage rapidly growing IT support demand while maintaining fast resolution times and high employee satisfaction?</vt:lpstr>
      <vt:lpstr>Project analysis slide 2</vt:lpstr>
      <vt:lpstr>Understanding the IT Support Data</vt:lpstr>
      <vt:lpstr>Project analysis slide 3</vt:lpstr>
      <vt:lpstr>KPI Overview</vt:lpstr>
      <vt:lpstr>IS PERFORMANCE HOLDING UP?</vt:lpstr>
      <vt:lpstr>Monthly Performance Trend</vt:lpstr>
      <vt:lpstr>HOW FAST ARE TICKETS BEING RESOLVED?</vt:lpstr>
      <vt:lpstr>Distribution of Tickets by Resolution Time</vt:lpstr>
      <vt:lpstr>Quarterly Average Resolution Time by Request Category</vt:lpstr>
      <vt:lpstr>WHAT IS DRIVING SUPPORT DEMAND?</vt:lpstr>
      <vt:lpstr>Tickets by Request Category</vt:lpstr>
      <vt:lpstr>Tickets by Issue Type</vt:lpstr>
      <vt:lpstr>HOW COMPLEX/URGENT ARE THE TICKETS?</vt:lpstr>
      <vt:lpstr>Tickets by Severity</vt:lpstr>
      <vt:lpstr>Tickets by Priority</vt:lpstr>
      <vt:lpstr>HOW FAST IS DEMAND GROWING?</vt:lpstr>
      <vt:lpstr>Yearly Ticket Volume Trend</vt:lpstr>
      <vt:lpstr>WHAT DO EMPLOYEES THINK OF THE SERVICE?</vt:lpstr>
      <vt:lpstr>Ticket Distribution by Satisfaction Score</vt:lpstr>
      <vt:lpstr>DOES AGENT DEMOGRAPHY MATTER?</vt:lpstr>
      <vt:lpstr>Impact of Age on IT Agent Performance</vt:lpstr>
      <vt:lpstr>WHICH AGENTS ARE PERFORMING WELL?</vt:lpstr>
      <vt:lpstr>IT Agent Performance Metrics</vt:lpstr>
      <vt:lpstr>PowerPoint Presentation</vt:lpstr>
      <vt:lpstr>IT SUPPORT DASHBOARD</vt:lpstr>
      <vt:lpstr>PowerPoint Presentation</vt:lpstr>
      <vt:lpstr>PowerPoint Presentation</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Mehwish Shariff</dc:creator>
  <cp:lastModifiedBy>Mehwish Shariff</cp:lastModifiedBy>
  <cp:revision>12</cp:revision>
  <dcterms:created xsi:type="dcterms:W3CDTF">2026-08-09T03:56:26Z</dcterms:created>
  <dcterms:modified xsi:type="dcterms:W3CDTF">2026-08-19T09:42:55Z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